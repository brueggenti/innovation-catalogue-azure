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22" r:id="rId5"/>
  </p:sldMasterIdLst>
  <p:notesMasterIdLst>
    <p:notesMasterId r:id="rId7"/>
  </p:notesMasterIdLst>
  <p:handoutMasterIdLst>
    <p:handoutMasterId r:id="rId8"/>
  </p:handoutMasterIdLst>
  <p:sldIdLst>
    <p:sldId id="377" r:id="rId6"/>
  </p:sldIdLst>
  <p:sldSz cx="10799763" cy="7561263"/>
  <p:notesSz cx="6797675" cy="9926638"/>
  <p:defaultTextStyle>
    <a:defPPr>
      <a:defRPr lang="de-DE"/>
    </a:defPPr>
    <a:lvl1pPr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1pPr>
    <a:lvl2pPr marL="520700" indent="-63500"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2pPr>
    <a:lvl3pPr marL="1042988" indent="-1285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3pPr>
    <a:lvl4pPr marL="1563688" indent="-1920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4pPr>
    <a:lvl5pPr marL="2085975" indent="-257175"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5pPr>
    <a:lvl6pPr marL="2286000" algn="l" defTabSz="914400" rtl="0" eaLnBrk="1" latinLnBrk="0" hangingPunct="1">
      <a:defRPr sz="2100" kern="1200">
        <a:solidFill>
          <a:schemeClr val="tx1"/>
        </a:solidFill>
        <a:latin typeface="DINOT" pitchFamily="121" charset="0"/>
        <a:ea typeface="Geneva" pitchFamily="121" charset="-128"/>
        <a:cs typeface="+mn-cs"/>
      </a:defRPr>
    </a:lvl6pPr>
    <a:lvl7pPr marL="2743200" algn="l" defTabSz="914400" rtl="0" eaLnBrk="1" latinLnBrk="0" hangingPunct="1">
      <a:defRPr sz="2100" kern="1200">
        <a:solidFill>
          <a:schemeClr val="tx1"/>
        </a:solidFill>
        <a:latin typeface="DINOT" pitchFamily="121" charset="0"/>
        <a:ea typeface="Geneva" pitchFamily="121" charset="-128"/>
        <a:cs typeface="+mn-cs"/>
      </a:defRPr>
    </a:lvl7pPr>
    <a:lvl8pPr marL="3200400" algn="l" defTabSz="914400" rtl="0" eaLnBrk="1" latinLnBrk="0" hangingPunct="1">
      <a:defRPr sz="2100" kern="1200">
        <a:solidFill>
          <a:schemeClr val="tx1"/>
        </a:solidFill>
        <a:latin typeface="DINOT" pitchFamily="121" charset="0"/>
        <a:ea typeface="Geneva" pitchFamily="121" charset="-128"/>
        <a:cs typeface="+mn-cs"/>
      </a:defRPr>
    </a:lvl8pPr>
    <a:lvl9pPr marL="3657600" algn="l" defTabSz="914400" rtl="0" eaLnBrk="1" latinLnBrk="0" hangingPunct="1">
      <a:defRPr sz="2100" kern="1200">
        <a:solidFill>
          <a:schemeClr val="tx1"/>
        </a:solidFill>
        <a:latin typeface="DINOT" pitchFamily="121" charset="0"/>
        <a:ea typeface="Geneva" pitchFamily="121"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2F2F2"/>
    <a:srgbClr val="661C31"/>
    <a:srgbClr val="E2BC54"/>
    <a:srgbClr val="D9D9D9"/>
    <a:srgbClr val="004689"/>
    <a:srgbClr val="31679B"/>
    <a:srgbClr val="080808"/>
    <a:srgbClr val="000000"/>
    <a:srgbClr val="005AB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908FEE-CDF9-4F9B-94C6-018E6361FD41}" v="21" dt="2025-06-23T09:37:31.37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43" autoAdjust="0"/>
    <p:restoredTop sz="96433" autoAdjust="0"/>
  </p:normalViewPr>
  <p:slideViewPr>
    <p:cSldViewPr>
      <p:cViewPr>
        <p:scale>
          <a:sx n="110" d="100"/>
          <a:sy n="110" d="100"/>
        </p:scale>
        <p:origin x="450"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378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berly Giesenberg" userId="9d2c8af7-3495-4e17-909d-5ee80a83a38c" providerId="ADAL" clId="{88908FEE-CDF9-4F9B-94C6-018E6361FD41}"/>
    <pc:docChg chg="undo custSel modSld">
      <pc:chgData name="Kimberly Giesenberg" userId="9d2c8af7-3495-4e17-909d-5ee80a83a38c" providerId="ADAL" clId="{88908FEE-CDF9-4F9B-94C6-018E6361FD41}" dt="2025-06-23T09:37:51.834" v="305" actId="1035"/>
      <pc:docMkLst>
        <pc:docMk/>
      </pc:docMkLst>
      <pc:sldChg chg="addSp delSp modSp mod">
        <pc:chgData name="Kimberly Giesenberg" userId="9d2c8af7-3495-4e17-909d-5ee80a83a38c" providerId="ADAL" clId="{88908FEE-CDF9-4F9B-94C6-018E6361FD41}" dt="2025-06-23T09:37:51.834" v="305" actId="1035"/>
        <pc:sldMkLst>
          <pc:docMk/>
          <pc:sldMk cId="1299991375" sldId="377"/>
        </pc:sldMkLst>
        <pc:spChg chg="mod">
          <ac:chgData name="Kimberly Giesenberg" userId="9d2c8af7-3495-4e17-909d-5ee80a83a38c" providerId="ADAL" clId="{88908FEE-CDF9-4F9B-94C6-018E6361FD41}" dt="2025-06-23T09:23:10.561" v="42" actId="20577"/>
          <ac:spMkLst>
            <pc:docMk/>
            <pc:sldMk cId="1299991375" sldId="377"/>
            <ac:spMk id="4" creationId="{00000000-0000-0000-0000-000000000000}"/>
          </ac:spMkLst>
        </pc:spChg>
        <pc:graphicFrameChg chg="modGraphic">
          <ac:chgData name="Kimberly Giesenberg" userId="9d2c8af7-3495-4e17-909d-5ee80a83a38c" providerId="ADAL" clId="{88908FEE-CDF9-4F9B-94C6-018E6361FD41}" dt="2025-06-23T09:29:35.377" v="173" actId="20577"/>
          <ac:graphicFrameMkLst>
            <pc:docMk/>
            <pc:sldMk cId="1299991375" sldId="377"/>
            <ac:graphicFrameMk id="3" creationId="{9C6429FB-CEF1-B76F-577A-F7F4F9678DC3}"/>
          </ac:graphicFrameMkLst>
        </pc:graphicFrameChg>
        <pc:graphicFrameChg chg="mod modGraphic">
          <ac:chgData name="Kimberly Giesenberg" userId="9d2c8af7-3495-4e17-909d-5ee80a83a38c" providerId="ADAL" clId="{88908FEE-CDF9-4F9B-94C6-018E6361FD41}" dt="2025-06-23T09:29:05.816" v="155" actId="20577"/>
          <ac:graphicFrameMkLst>
            <pc:docMk/>
            <pc:sldMk cId="1299991375" sldId="377"/>
            <ac:graphicFrameMk id="5" creationId="{7CD1225E-2159-988B-E19D-96D8C2167C69}"/>
          </ac:graphicFrameMkLst>
        </pc:graphicFrameChg>
        <pc:graphicFrameChg chg="modGraphic">
          <ac:chgData name="Kimberly Giesenberg" userId="9d2c8af7-3495-4e17-909d-5ee80a83a38c" providerId="ADAL" clId="{88908FEE-CDF9-4F9B-94C6-018E6361FD41}" dt="2025-06-23T09:36:22.010" v="295" actId="20577"/>
          <ac:graphicFrameMkLst>
            <pc:docMk/>
            <pc:sldMk cId="1299991375" sldId="377"/>
            <ac:graphicFrameMk id="15" creationId="{246CA7D5-3C48-989F-D291-CEEB186B289C}"/>
          </ac:graphicFrameMkLst>
        </pc:graphicFrameChg>
        <pc:graphicFrameChg chg="modGraphic">
          <ac:chgData name="Kimberly Giesenberg" userId="9d2c8af7-3495-4e17-909d-5ee80a83a38c" providerId="ADAL" clId="{88908FEE-CDF9-4F9B-94C6-018E6361FD41}" dt="2025-06-23T09:35:09.515" v="258" actId="20577"/>
          <ac:graphicFrameMkLst>
            <pc:docMk/>
            <pc:sldMk cId="1299991375" sldId="377"/>
            <ac:graphicFrameMk id="24" creationId="{DFFF3101-60D1-6AE4-006A-14744CD893FF}"/>
          </ac:graphicFrameMkLst>
        </pc:graphicFrameChg>
        <pc:picChg chg="del">
          <ac:chgData name="Kimberly Giesenberg" userId="9d2c8af7-3495-4e17-909d-5ee80a83a38c" providerId="ADAL" clId="{88908FEE-CDF9-4F9B-94C6-018E6361FD41}" dt="2025-06-23T09:37:44.481" v="302" actId="478"/>
          <ac:picMkLst>
            <pc:docMk/>
            <pc:sldMk cId="1299991375" sldId="377"/>
            <ac:picMk id="9" creationId="{F2DA2886-CD16-6963-48EC-368529061A3D}"/>
          </ac:picMkLst>
        </pc:picChg>
        <pc:picChg chg="add mod modCrop">
          <ac:chgData name="Kimberly Giesenberg" userId="9d2c8af7-3495-4e17-909d-5ee80a83a38c" providerId="ADAL" clId="{88908FEE-CDF9-4F9B-94C6-018E6361FD41}" dt="2025-06-23T09:32:44.169" v="186" actId="1076"/>
          <ac:picMkLst>
            <pc:docMk/>
            <pc:sldMk cId="1299991375" sldId="377"/>
            <ac:picMk id="11" creationId="{B3D1ACF9-8760-2464-9B59-FA2453220FC6}"/>
          </ac:picMkLst>
        </pc:picChg>
        <pc:picChg chg="add mod">
          <ac:chgData name="Kimberly Giesenberg" userId="9d2c8af7-3495-4e17-909d-5ee80a83a38c" providerId="ADAL" clId="{88908FEE-CDF9-4F9B-94C6-018E6361FD41}" dt="2025-06-23T09:37:51.834" v="305" actId="1035"/>
          <ac:picMkLst>
            <pc:docMk/>
            <pc:sldMk cId="1299991375" sldId="377"/>
            <ac:picMk id="13" creationId="{198B9F29-3073-54E8-F408-1F199E99C34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sz="quarter"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9C26C81-E798-4A63-9A9C-957060DF48C8}" type="datetimeFigureOut">
              <a:rPr lang="de-DE" altLang="de-DE"/>
              <a:pPr/>
              <a:t>23.06.2025</a:t>
            </a:fld>
            <a:endParaRPr lang="de-DE" altLang="de-DE"/>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5" name="Foliennummernplatzhalter 4"/>
          <p:cNvSpPr>
            <a:spLocks noGrp="1"/>
          </p:cNvSpPr>
          <p:nvPr>
            <p:ph type="sldNum" sz="quarter" idx="3"/>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17F6-27DD-46EE-BA9D-493BFC491B28}" type="slidenum">
              <a:rPr lang="de-DE" altLang="de-DE"/>
              <a:pPr/>
              <a:t>‹Nr.›</a:t>
            </a:fld>
            <a:endParaRPr lang="de-DE" altLang="de-DE"/>
          </a:p>
        </p:txBody>
      </p:sp>
    </p:spTree>
    <p:extLst>
      <p:ext uri="{BB962C8B-B14F-4D97-AF65-F5344CB8AC3E}">
        <p14:creationId xmlns:p14="http://schemas.microsoft.com/office/powerpoint/2010/main" val="3315478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620E060D-405C-4C89-A8D3-1D82FB89215F}" type="datetimeFigureOut">
              <a:rPr lang="de-DE" altLang="de-DE"/>
              <a:pPr/>
              <a:t>23.06.2025</a:t>
            </a:fld>
            <a:endParaRPr lang="de-DE" altLang="de-DE"/>
          </a:p>
        </p:txBody>
      </p:sp>
      <p:sp>
        <p:nvSpPr>
          <p:cNvPr id="4" name="Folienbildplatzhalter 3"/>
          <p:cNvSpPr>
            <a:spLocks noGrp="1" noRot="1" noChangeAspect="1"/>
          </p:cNvSpPr>
          <p:nvPr>
            <p:ph type="sldImg" idx="2"/>
          </p:nvPr>
        </p:nvSpPr>
        <p:spPr>
          <a:xfrm>
            <a:off x="741363" y="744538"/>
            <a:ext cx="5314950" cy="3722687"/>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79768" y="4715153"/>
            <a:ext cx="5438140" cy="4466987"/>
          </a:xfrm>
          <a:prstGeom prst="rect">
            <a:avLst/>
          </a:prstGeom>
        </p:spPr>
        <p:txBody>
          <a:bodyPr vert="horz" wrap="square" lIns="9144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7" name="Foliennummernplatzhalter 6"/>
          <p:cNvSpPr>
            <a:spLocks noGrp="1"/>
          </p:cNvSpPr>
          <p:nvPr>
            <p:ph type="sldNum" sz="quarter" idx="5"/>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EE4295A-0246-442F-909E-C3AD8774AB01}" type="slidenum">
              <a:rPr lang="de-DE" altLang="de-DE"/>
              <a:pPr/>
              <a:t>‹Nr.›</a:t>
            </a:fld>
            <a:endParaRPr lang="de-DE" altLang="de-DE"/>
          </a:p>
        </p:txBody>
      </p:sp>
    </p:spTree>
    <p:extLst>
      <p:ext uri="{BB962C8B-B14F-4D97-AF65-F5344CB8AC3E}">
        <p14:creationId xmlns:p14="http://schemas.microsoft.com/office/powerpoint/2010/main" val="2579922153"/>
      </p:ext>
    </p:extLst>
  </p:cSld>
  <p:clrMap bg1="lt1" tx1="dk1" bg2="lt2" tx2="dk2" accent1="accent1" accent2="accent2" accent3="accent3" accent4="accent4" accent5="accent5" accent6="accent6" hlink="hlink" folHlink="folHlink"/>
  <p:notesStyle>
    <a:lvl1pPr algn="l" defTabSz="1042988" rtl="0" fontAlgn="base">
      <a:spcBef>
        <a:spcPct val="30000"/>
      </a:spcBef>
      <a:spcAft>
        <a:spcPct val="0"/>
      </a:spcAft>
      <a:defRPr sz="1400" kern="1200">
        <a:solidFill>
          <a:schemeClr val="tx1"/>
        </a:solidFill>
        <a:latin typeface="+mn-lt"/>
        <a:ea typeface="Geneva" pitchFamily="121" charset="-128"/>
        <a:cs typeface="+mn-cs"/>
      </a:defRPr>
    </a:lvl1pPr>
    <a:lvl2pPr marL="520700" algn="l" defTabSz="1042988" rtl="0" fontAlgn="base">
      <a:spcBef>
        <a:spcPct val="30000"/>
      </a:spcBef>
      <a:spcAft>
        <a:spcPct val="0"/>
      </a:spcAft>
      <a:defRPr sz="1400" kern="1200">
        <a:solidFill>
          <a:schemeClr val="tx1"/>
        </a:solidFill>
        <a:latin typeface="+mn-lt"/>
        <a:ea typeface="Geneva" pitchFamily="121" charset="-128"/>
        <a:cs typeface="+mn-cs"/>
      </a:defRPr>
    </a:lvl2pPr>
    <a:lvl3pPr marL="1042988" algn="l" defTabSz="1042988" rtl="0" fontAlgn="base">
      <a:spcBef>
        <a:spcPct val="30000"/>
      </a:spcBef>
      <a:spcAft>
        <a:spcPct val="0"/>
      </a:spcAft>
      <a:defRPr sz="1400" kern="1200">
        <a:solidFill>
          <a:schemeClr val="tx1"/>
        </a:solidFill>
        <a:latin typeface="+mn-lt"/>
        <a:ea typeface="Geneva" pitchFamily="121" charset="-128"/>
        <a:cs typeface="+mn-cs"/>
      </a:defRPr>
    </a:lvl3pPr>
    <a:lvl4pPr marL="1563688" algn="l" defTabSz="1042988" rtl="0" fontAlgn="base">
      <a:spcBef>
        <a:spcPct val="30000"/>
      </a:spcBef>
      <a:spcAft>
        <a:spcPct val="0"/>
      </a:spcAft>
      <a:defRPr sz="1400" kern="1200">
        <a:solidFill>
          <a:schemeClr val="tx1"/>
        </a:solidFill>
        <a:latin typeface="+mn-lt"/>
        <a:ea typeface="Geneva" pitchFamily="121" charset="-128"/>
        <a:cs typeface="+mn-cs"/>
      </a:defRPr>
    </a:lvl4pPr>
    <a:lvl5pPr marL="2085975" algn="l" defTabSz="1042988" rtl="0" fontAlgn="base">
      <a:spcBef>
        <a:spcPct val="30000"/>
      </a:spcBef>
      <a:spcAft>
        <a:spcPct val="0"/>
      </a:spcAft>
      <a:defRPr sz="1400" kern="1200">
        <a:solidFill>
          <a:schemeClr val="tx1"/>
        </a:solidFill>
        <a:latin typeface="+mn-lt"/>
        <a:ea typeface="Geneva" pitchFamily="121" charset="-128"/>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41363" y="744538"/>
            <a:ext cx="5314950" cy="3722687"/>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pPr marL="0" marR="0" lvl="0" indent="0" algn="r" defTabSz="1042988" rtl="0" eaLnBrk="1" fontAlgn="base" latinLnBrk="0" hangingPunct="1">
              <a:lnSpc>
                <a:spcPct val="100000"/>
              </a:lnSpc>
              <a:spcBef>
                <a:spcPct val="0"/>
              </a:spcBef>
              <a:spcAft>
                <a:spcPct val="0"/>
              </a:spcAft>
              <a:buClrTx/>
              <a:buSzTx/>
              <a:buFontTx/>
              <a:buNone/>
              <a:tabLst/>
              <a:defRPr/>
            </a:pPr>
            <a:fld id="{FEE4295A-0246-442F-909E-C3AD8774AB01}" type="slidenum">
              <a:rPr kumimoji="0" lang="de-DE" altLang="de-DE" sz="1200" b="0" i="0" u="none" strike="noStrike" kern="1200" cap="none" spc="0" normalizeH="0" baseline="0" noProof="0" smtClean="0">
                <a:ln>
                  <a:noFill/>
                </a:ln>
                <a:solidFill>
                  <a:srgbClr val="004689"/>
                </a:solidFill>
                <a:effectLst/>
                <a:uLnTx/>
                <a:uFillTx/>
                <a:latin typeface="DINOT" pitchFamily="121" charset="0"/>
                <a:ea typeface="Geneva" pitchFamily="121" charset="-128"/>
                <a:cs typeface="+mn-cs"/>
              </a:rPr>
              <a:pPr marL="0" marR="0" lvl="0" indent="0" algn="r" defTabSz="1042988" rtl="0" eaLnBrk="1" fontAlgn="base" latinLnBrk="0" hangingPunct="1">
                <a:lnSpc>
                  <a:spcPct val="100000"/>
                </a:lnSpc>
                <a:spcBef>
                  <a:spcPct val="0"/>
                </a:spcBef>
                <a:spcAft>
                  <a:spcPct val="0"/>
                </a:spcAft>
                <a:buClrTx/>
                <a:buSzTx/>
                <a:buFontTx/>
                <a:buNone/>
                <a:tabLst/>
                <a:defRPr/>
              </a:pPr>
              <a:t>1</a:t>
            </a:fld>
            <a:endParaRPr kumimoji="0" lang="de-DE" altLang="de-DE" sz="1200" b="0" i="0" u="none" strike="noStrike" kern="1200" cap="none" spc="0" normalizeH="0" baseline="0" noProof="0">
              <a:ln>
                <a:noFill/>
              </a:ln>
              <a:solidFill>
                <a:srgbClr val="004689"/>
              </a:solidFill>
              <a:effectLst/>
              <a:uLnTx/>
              <a:uFillTx/>
              <a:latin typeface="DINOT" pitchFamily="121" charset="0"/>
              <a:ea typeface="Geneva" pitchFamily="121" charset="-128"/>
              <a:cs typeface="+mn-cs"/>
            </a:endParaRPr>
          </a:p>
        </p:txBody>
      </p:sp>
    </p:spTree>
    <p:extLst>
      <p:ext uri="{BB962C8B-B14F-4D97-AF65-F5344CB8AC3E}">
        <p14:creationId xmlns:p14="http://schemas.microsoft.com/office/powerpoint/2010/main" val="3985220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731668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396519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8D183C-9C2E-1E1F-E072-A3885BE6DE67}"/>
              </a:ext>
            </a:extLst>
          </p:cNvPr>
          <p:cNvSpPr/>
          <p:nvPr userDrawn="1"/>
        </p:nvSpPr>
        <p:spPr>
          <a:xfrm>
            <a:off x="-1" y="7020991"/>
            <a:ext cx="10799763" cy="540272"/>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705" y="-35793"/>
            <a:ext cx="10799763" cy="792087"/>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44933"/>
            <a:ext cx="7636045" cy="292388"/>
          </a:xfrm>
          <a:prstGeom prst="rect">
            <a:avLst/>
          </a:prstGeom>
          <a:noFill/>
          <a:ln>
            <a:solidFill>
              <a:schemeClr val="bg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50" b="0" i="0" u="none" strike="noStrike" kern="0" cap="none" spc="0" normalizeH="0" baseline="0" noProof="0" dirty="0">
                <a:ln>
                  <a:noFill/>
                </a:ln>
                <a:solidFill>
                  <a:schemeClr val="bg1"/>
                </a:solidFill>
                <a:effectLst/>
                <a:uLnTx/>
                <a:uFillTx/>
                <a:latin typeface="DINOT" panose="020B0504020101020102" pitchFamily="34" charset="0"/>
                <a:ea typeface="+mn-ea"/>
              </a:rPr>
              <a:t>The purpose of this product information is to describe a sample produced in the laboratory. Nutritional values are calculated. Due to minor variations that may occur during manufacturing under production conditions, this product information is of a preliminary nature. For declaration purposes, please request a full product specification.</a:t>
            </a:r>
            <a:endParaRPr kumimoji="0" lang="de-DE" sz="650" b="0" i="0" u="none" strike="noStrike" kern="0" cap="none" spc="0" normalizeH="0" baseline="0" noProof="0" dirty="0">
              <a:ln>
                <a:noFill/>
              </a:ln>
              <a:solidFill>
                <a:schemeClr val="bg1"/>
              </a:solidFill>
              <a:effectLst/>
              <a:uLnTx/>
              <a:uFillTx/>
              <a:latin typeface="DINOT" panose="020B0504020101020102" pitchFamily="34" charset="0"/>
              <a:ea typeface="+mn-ea"/>
            </a:endParaRP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Lst>
  <p:hf hdr="0" ftr="0" dt="0"/>
  <p:txStyles>
    <p:titleStyle>
      <a:lvl1pPr algn="l" defTabSz="1043005" rtl="0" eaLnBrk="1" fontAlgn="base" hangingPunct="1">
        <a:spcBef>
          <a:spcPct val="0"/>
        </a:spcBef>
        <a:spcAft>
          <a:spcPct val="0"/>
        </a:spcAft>
        <a:defRPr sz="2801" kern="1200" cap="all" baseline="0">
          <a:solidFill>
            <a:schemeClr val="bg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6336103-EADF-9E1C-9950-1DD13D2BAED5}"/>
              </a:ext>
            </a:extLst>
          </p:cNvPr>
          <p:cNvSpPr/>
          <p:nvPr userDrawn="1"/>
        </p:nvSpPr>
        <p:spPr>
          <a:xfrm>
            <a:off x="5876" y="7020991"/>
            <a:ext cx="10799763" cy="54027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1" y="0"/>
            <a:ext cx="10799763" cy="82809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81141"/>
            <a:ext cx="7636045" cy="292388"/>
          </a:xfrm>
          <a:prstGeom prst="rect">
            <a:avLst/>
          </a:prstGeom>
          <a:noFill/>
          <a:ln>
            <a:solidFill>
              <a:srgbClr val="661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50" b="0" i="0" u="none" strike="noStrike" kern="0" cap="none" spc="0" normalizeH="0" baseline="0" noProof="0" dirty="0">
                <a:ln>
                  <a:noFill/>
                </a:ln>
                <a:solidFill>
                  <a:srgbClr val="661C31"/>
                </a:solidFill>
                <a:effectLst/>
                <a:uLnTx/>
                <a:uFillTx/>
                <a:latin typeface="DINOT" panose="020B0504020101020102" pitchFamily="34" charset="0"/>
                <a:ea typeface="+mn-ea"/>
              </a:rPr>
              <a:t>The purpose of this product information is to describe a sample produced in the laboratory. Nutritional values are calculated. Due to minor variations that may occur during manufacturing under production conditions, this product information is of a preliminary nature. For declaration purposes, please request a full product specification.</a:t>
            </a:r>
            <a:endParaRPr kumimoji="0" lang="de-DE" sz="650" b="0" i="0" u="none" strike="noStrike" kern="0" cap="none" spc="0" normalizeH="0" baseline="0" noProof="0" dirty="0">
              <a:ln>
                <a:noFill/>
              </a:ln>
              <a:solidFill>
                <a:srgbClr val="661C31"/>
              </a:solidFill>
              <a:effectLst/>
              <a:uLnTx/>
              <a:uFillTx/>
              <a:latin typeface="DINOT" panose="020B0504020101020102" pitchFamily="34" charset="0"/>
              <a:ea typeface="+mn-ea"/>
            </a:endParaRP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2700564"/>
      </p:ext>
    </p:extLst>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l" defTabSz="1043005" rtl="0" eaLnBrk="1" fontAlgn="base" hangingPunct="1">
        <a:spcBef>
          <a:spcPct val="0"/>
        </a:spcBef>
        <a:spcAft>
          <a:spcPct val="0"/>
        </a:spcAft>
        <a:defRPr sz="2801" kern="1200" cap="all" baseline="0">
          <a:solidFill>
            <a:srgbClr val="661C3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53181" y="-11021"/>
            <a:ext cx="9865096" cy="760081"/>
          </a:xfrm>
        </p:spPr>
        <p:txBody>
          <a:bodyPr>
            <a:noAutofit/>
          </a:bodyPr>
          <a:lstStyle/>
          <a:p>
            <a:r>
              <a:rPr lang="de-DE" sz="1800" dirty="0" err="1"/>
              <a:t>muesli</a:t>
            </a:r>
            <a:r>
              <a:rPr lang="de-DE" sz="1800" dirty="0"/>
              <a:t> bar </a:t>
            </a:r>
            <a:r>
              <a:rPr lang="de-DE" sz="1800" dirty="0" err="1"/>
              <a:t>with</a:t>
            </a:r>
            <a:r>
              <a:rPr lang="de-DE" sz="1800" dirty="0"/>
              <a:t> </a:t>
            </a:r>
            <a:r>
              <a:rPr lang="de-DE" sz="1800" dirty="0" err="1"/>
              <a:t>whole</a:t>
            </a:r>
            <a:r>
              <a:rPr lang="de-DE" sz="1800" dirty="0"/>
              <a:t> milk </a:t>
            </a:r>
            <a:r>
              <a:rPr lang="de-DE" sz="1800" dirty="0" err="1"/>
              <a:t>chocolate</a:t>
            </a:r>
            <a:r>
              <a:rPr lang="de-DE" sz="1800" dirty="0"/>
              <a:t> and </a:t>
            </a:r>
            <a:r>
              <a:rPr lang="de-DE" sz="1800" dirty="0" err="1"/>
              <a:t>peanuts</a:t>
            </a:r>
            <a:r>
              <a:rPr lang="de-DE" sz="1800" dirty="0"/>
              <a:t> (</a:t>
            </a:r>
            <a:r>
              <a:rPr lang="de-DE" sz="1800" dirty="0" err="1"/>
              <a:t>fts</a:t>
            </a:r>
            <a:r>
              <a:rPr lang="de-DE" sz="1800" dirty="0"/>
              <a:t>)</a:t>
            </a:r>
            <a:br>
              <a:rPr lang="de-DE" sz="1800" dirty="0"/>
            </a:br>
            <a:r>
              <a:rPr lang="de-DE" sz="1800" dirty="0"/>
              <a:t>REF.: 000004010804</a:t>
            </a:r>
            <a:endParaRPr lang="de-DE" sz="1800" dirty="0">
              <a:latin typeface="DINOT-Bold" panose="020B0804020101020102" pitchFamily="34" charset="0"/>
              <a:cs typeface="Calibri" panose="020F0502020204030204" pitchFamily="34" charset="0"/>
            </a:endParaRPr>
          </a:p>
        </p:txBody>
      </p:sp>
      <p:graphicFrame>
        <p:nvGraphicFramePr>
          <p:cNvPr id="15" name="Tabelle 14">
            <a:extLst>
              <a:ext uri="{FF2B5EF4-FFF2-40B4-BE49-F238E27FC236}">
                <a16:creationId xmlns:a16="http://schemas.microsoft.com/office/drawing/2014/main" id="{246CA7D5-3C48-989F-D291-CEEB186B289C}"/>
              </a:ext>
            </a:extLst>
          </p:cNvPr>
          <p:cNvGraphicFramePr>
            <a:graphicFrameLocks noGrp="1"/>
          </p:cNvGraphicFramePr>
          <p:nvPr>
            <p:extLst>
              <p:ext uri="{D42A27DB-BD31-4B8C-83A1-F6EECF244321}">
                <p14:modId xmlns:p14="http://schemas.microsoft.com/office/powerpoint/2010/main" val="3490401750"/>
              </p:ext>
            </p:extLst>
          </p:nvPr>
        </p:nvGraphicFramePr>
        <p:xfrm>
          <a:off x="6485404" y="5637585"/>
          <a:ext cx="3960440" cy="502116"/>
        </p:xfrm>
        <a:graphic>
          <a:graphicData uri="http://schemas.openxmlformats.org/drawingml/2006/table">
            <a:tbl>
              <a:tblPr firstRow="1" bandRow="1"/>
              <a:tblGrid>
                <a:gridCol w="3960440">
                  <a:extLst>
                    <a:ext uri="{9D8B030D-6E8A-4147-A177-3AD203B41FA5}">
                      <a16:colId xmlns:a16="http://schemas.microsoft.com/office/drawing/2014/main" val="20000"/>
                    </a:ext>
                  </a:extLst>
                </a:gridCol>
              </a:tblGrid>
              <a:tr h="169404">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Claims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273516">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kern="1200" dirty="0">
                          <a:solidFill>
                            <a:srgbClr val="661C31"/>
                          </a:solidFill>
                          <a:latin typeface="Franklin Gothic Book" panose="020B0503020102020204" pitchFamily="34" charset="0"/>
                          <a:ea typeface="+mn-ea"/>
                          <a:cs typeface="+mn-cs"/>
                        </a:rPr>
                        <a:t>source </a:t>
                      </a:r>
                      <a:r>
                        <a:rPr lang="de-DE" sz="800" kern="1200" dirty="0" err="1">
                          <a:solidFill>
                            <a:srgbClr val="661C31"/>
                          </a:solidFill>
                          <a:latin typeface="Franklin Gothic Book" panose="020B0503020102020204" pitchFamily="34" charset="0"/>
                          <a:ea typeface="+mn-ea"/>
                          <a:cs typeface="+mn-cs"/>
                        </a:rPr>
                        <a:t>of</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fibre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needs</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to</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be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verified</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by</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analysis</a:t>
                      </a:r>
                      <a:r>
                        <a:rPr lang="de-DE" sz="800" kern="1200" dirty="0">
                          <a:solidFill>
                            <a:srgbClr val="661C31"/>
                          </a:solidFill>
                          <a:latin typeface="Franklin Gothic Book" panose="020B0503020102020204" pitchFamily="34" charset="0"/>
                          <a:ea typeface="+mn-ea"/>
                          <a:cs typeface="+mn-cs"/>
                        </a:rPr>
                        <a:t>)</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pic>
        <p:nvPicPr>
          <p:cNvPr id="19" name="Grafik 18">
            <a:extLst>
              <a:ext uri="{FF2B5EF4-FFF2-40B4-BE49-F238E27FC236}">
                <a16:creationId xmlns:a16="http://schemas.microsoft.com/office/drawing/2014/main" id="{4674B748-899F-F2C8-EE69-C25304821B8B}"/>
              </a:ext>
            </a:extLst>
          </p:cNvPr>
          <p:cNvPicPr>
            <a:picLocks noChangeAspect="1"/>
          </p:cNvPicPr>
          <p:nvPr/>
        </p:nvPicPr>
        <p:blipFill rotWithShape="1">
          <a:blip r:embed="rId3"/>
          <a:srcRect l="7115" r="4878"/>
          <a:stretch/>
        </p:blipFill>
        <p:spPr>
          <a:xfrm>
            <a:off x="0" y="889068"/>
            <a:ext cx="1984345" cy="6066835"/>
          </a:xfrm>
          <a:prstGeom prst="rect">
            <a:avLst/>
          </a:prstGeom>
          <a:ln>
            <a:noFill/>
          </a:ln>
          <a:effectLst>
            <a:softEdge rad="165100"/>
          </a:effectLst>
        </p:spPr>
      </p:pic>
      <p:graphicFrame>
        <p:nvGraphicFramePr>
          <p:cNvPr id="22" name="Tabelle 21">
            <a:extLst>
              <a:ext uri="{FF2B5EF4-FFF2-40B4-BE49-F238E27FC236}">
                <a16:creationId xmlns:a16="http://schemas.microsoft.com/office/drawing/2014/main" id="{5408E5B8-BA28-B652-0F9A-226FF37A5020}"/>
              </a:ext>
            </a:extLst>
          </p:cNvPr>
          <p:cNvGraphicFramePr>
            <a:graphicFrameLocks noGrp="1"/>
          </p:cNvGraphicFramePr>
          <p:nvPr>
            <p:extLst>
              <p:ext uri="{D42A27DB-BD31-4B8C-83A1-F6EECF244321}">
                <p14:modId xmlns:p14="http://schemas.microsoft.com/office/powerpoint/2010/main" val="3301809872"/>
              </p:ext>
            </p:extLst>
          </p:nvPr>
        </p:nvGraphicFramePr>
        <p:xfrm>
          <a:off x="2128091" y="5888643"/>
          <a:ext cx="3960438" cy="656280"/>
        </p:xfrm>
        <a:graphic>
          <a:graphicData uri="http://schemas.openxmlformats.org/drawingml/2006/table">
            <a:tbl>
              <a:tblPr firstRow="1" bandRow="1"/>
              <a:tblGrid>
                <a:gridCol w="3960438">
                  <a:extLst>
                    <a:ext uri="{9D8B030D-6E8A-4147-A177-3AD203B41FA5}">
                      <a16:colId xmlns:a16="http://schemas.microsoft.com/office/drawing/2014/main" val="20000"/>
                    </a:ext>
                  </a:extLst>
                </a:gridCol>
              </a:tblGrid>
              <a:tr h="2448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Allergen </a:t>
                      </a:r>
                      <a:r>
                        <a:rPr lang="de-DE" sz="900" b="1" kern="1200" dirty="0" err="1">
                          <a:solidFill>
                            <a:schemeClr val="bg1"/>
                          </a:solidFill>
                          <a:latin typeface="Franklin Gothic Book" panose="020B0503020102020204" pitchFamily="34" charset="0"/>
                          <a:ea typeface="+mn-ea"/>
                          <a:cs typeface="+mn-cs"/>
                        </a:rPr>
                        <a:t>information</a:t>
                      </a:r>
                      <a:r>
                        <a:rPr lang="de-DE" sz="900" b="1" kern="120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3923637370"/>
                  </a:ext>
                </a:extLst>
              </a:tr>
              <a:tr h="332059">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700" kern="1200" dirty="0">
                          <a:solidFill>
                            <a:srgbClr val="661C31"/>
                          </a:solidFill>
                          <a:latin typeface="Franklin Gothic Book" panose="020B0503020102020204" pitchFamily="34" charset="0"/>
                          <a:ea typeface="+mn-ea"/>
                          <a:cs typeface="+mn-cs"/>
                        </a:rPr>
                        <a:t>Contains allergens according to the list of ingredients. </a:t>
                      </a:r>
                      <a:r>
                        <a:rPr lang="en-US" sz="700" kern="1200" dirty="0">
                          <a:solidFill>
                            <a:srgbClr val="661C31"/>
                          </a:solidFill>
                          <a:latin typeface="Franklin Gothic Book" panose="020B0503020102020204" pitchFamily="34" charset="0"/>
                          <a:ea typeface="+mn-ea"/>
                          <a:cs typeface="+mn-cs"/>
                        </a:rPr>
                        <a:t>Manufactured in a facility </a:t>
                      </a:r>
                      <a:r>
                        <a:rPr lang="en-GB" sz="700" kern="1200" dirty="0">
                          <a:solidFill>
                            <a:srgbClr val="661C31"/>
                          </a:solidFill>
                          <a:latin typeface="Franklin Gothic Book" panose="020B0503020102020204" pitchFamily="34" charset="0"/>
                          <a:ea typeface="+mn-ea"/>
                          <a:cs typeface="+mn-cs"/>
                        </a:rPr>
                        <a:t>where the following allergens are present</a:t>
                      </a:r>
                      <a:r>
                        <a:rPr lang="en-US" sz="700" kern="1200" dirty="0">
                          <a:solidFill>
                            <a:srgbClr val="661C31"/>
                          </a:solidFill>
                          <a:latin typeface="Franklin Gothic Book" panose="020B0503020102020204" pitchFamily="34" charset="0"/>
                          <a:ea typeface="+mn-ea"/>
                          <a:cs typeface="+mn-cs"/>
                        </a:rPr>
                        <a:t>: cereals containing gluten, peanuts, sesame, nuts, milk and soya products, mustard, lupin.</a:t>
                      </a:r>
                      <a:endParaRPr lang="de-DE" sz="7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bl>
          </a:graphicData>
        </a:graphic>
      </p:graphicFrame>
      <p:graphicFrame>
        <p:nvGraphicFramePr>
          <p:cNvPr id="24" name="Tabelle 23">
            <a:extLst>
              <a:ext uri="{FF2B5EF4-FFF2-40B4-BE49-F238E27FC236}">
                <a16:creationId xmlns:a16="http://schemas.microsoft.com/office/drawing/2014/main" id="{DFFF3101-60D1-6AE4-006A-14744CD893FF}"/>
              </a:ext>
            </a:extLst>
          </p:cNvPr>
          <p:cNvGraphicFramePr>
            <a:graphicFrameLocks noGrp="1"/>
          </p:cNvGraphicFramePr>
          <p:nvPr>
            <p:extLst>
              <p:ext uri="{D42A27DB-BD31-4B8C-83A1-F6EECF244321}">
                <p14:modId xmlns:p14="http://schemas.microsoft.com/office/powerpoint/2010/main" val="1232688221"/>
              </p:ext>
            </p:extLst>
          </p:nvPr>
        </p:nvGraphicFramePr>
        <p:xfrm>
          <a:off x="6517861" y="3673628"/>
          <a:ext cx="3960438" cy="1874226"/>
        </p:xfrm>
        <a:graphic>
          <a:graphicData uri="http://schemas.openxmlformats.org/drawingml/2006/table">
            <a:tbl>
              <a:tblPr firstRow="1" bandRow="1"/>
              <a:tblGrid>
                <a:gridCol w="1613512">
                  <a:extLst>
                    <a:ext uri="{9D8B030D-6E8A-4147-A177-3AD203B41FA5}">
                      <a16:colId xmlns:a16="http://schemas.microsoft.com/office/drawing/2014/main" val="20000"/>
                    </a:ext>
                  </a:extLst>
                </a:gridCol>
                <a:gridCol w="1084932">
                  <a:extLst>
                    <a:ext uri="{9D8B030D-6E8A-4147-A177-3AD203B41FA5}">
                      <a16:colId xmlns:a16="http://schemas.microsoft.com/office/drawing/2014/main" val="20001"/>
                    </a:ext>
                  </a:extLst>
                </a:gridCol>
                <a:gridCol w="1261994">
                  <a:extLst>
                    <a:ext uri="{9D8B030D-6E8A-4147-A177-3AD203B41FA5}">
                      <a16:colId xmlns:a16="http://schemas.microsoft.com/office/drawing/2014/main" val="1098706546"/>
                    </a:ext>
                  </a:extLst>
                </a:gridCol>
              </a:tblGrid>
              <a:tr h="230400">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algn="l"/>
                      <a:r>
                        <a:rPr lang="de-DE" sz="900" b="1" kern="1200" dirty="0">
                          <a:solidFill>
                            <a:schemeClr val="bg1"/>
                          </a:solidFill>
                          <a:latin typeface="Franklin Gothic Book" panose="020B0503020102020204" pitchFamily="34" charset="0"/>
                          <a:ea typeface="+mn-ea"/>
                          <a:cs typeface="+mn-cs"/>
                        </a:rPr>
                        <a:t>Nutrition </a:t>
                      </a:r>
                      <a:r>
                        <a:rPr lang="de-DE" sz="900" b="1" kern="1200" dirty="0" err="1">
                          <a:solidFill>
                            <a:schemeClr val="bg1"/>
                          </a:solidFill>
                          <a:latin typeface="Franklin Gothic Book" panose="020B0503020102020204" pitchFamily="34" charset="0"/>
                          <a:ea typeface="+mn-ea"/>
                          <a:cs typeface="+mn-cs"/>
                        </a:rPr>
                        <a:t>information</a:t>
                      </a:r>
                      <a:endParaRPr lang="de-DE" sz="900" b="1" kern="1200" dirty="0">
                        <a:solidFill>
                          <a:schemeClr val="bg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en-US" sz="900" b="1" kern="1200" dirty="0">
                          <a:solidFill>
                            <a:schemeClr val="bg1"/>
                          </a:solidFill>
                          <a:latin typeface="Franklin Gothic Book" panose="020B0503020102020204" pitchFamily="34" charset="0"/>
                          <a:ea typeface="+mn-ea"/>
                          <a:cs typeface="+mn-cs"/>
                        </a:rPr>
                        <a:t>per 100g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en-US" sz="900" b="1" kern="1200" dirty="0">
                          <a:solidFill>
                            <a:schemeClr val="bg1"/>
                          </a:solidFill>
                          <a:latin typeface="Franklin Gothic Book" panose="020B0503020102020204" pitchFamily="34" charset="0"/>
                          <a:ea typeface="+mn-ea"/>
                          <a:cs typeface="+mn-cs"/>
                        </a:rPr>
                        <a:t>per bar (25g)</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kJ</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calories</a:t>
                      </a:r>
                      <a:endParaRPr lang="de-DE" sz="8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1819</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433</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455</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108</a:t>
                      </a:r>
                    </a:p>
                  </a:txBody>
                  <a:tcPr marL="68580" marR="68580" marT="0" marB="0" anchor="ctr" anchorCtr="1">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1"/>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Fat</a:t>
                      </a:r>
                      <a:r>
                        <a:rPr lang="de-DE" sz="800" kern="1200" dirty="0">
                          <a:solidFill>
                            <a:srgbClr val="661C31"/>
                          </a:solidFill>
                          <a:latin typeface="Franklin Gothic Book" panose="020B0503020102020204" pitchFamily="34" charset="0"/>
                          <a:ea typeface="+mn-ea"/>
                          <a:cs typeface="+mn-cs"/>
                        </a:rPr>
                        <a:t>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of</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which</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saturates</a:t>
                      </a:r>
                      <a:r>
                        <a:rPr lang="de-DE" sz="800" kern="1200" dirty="0">
                          <a:solidFill>
                            <a:srgbClr val="661C31"/>
                          </a:solidFill>
                          <a:latin typeface="Franklin Gothic Book" panose="020B0503020102020204" pitchFamily="34" charset="0"/>
                          <a:ea typeface="+mn-ea"/>
                          <a:cs typeface="+mn-cs"/>
                        </a:rPr>
                        <a: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15,1</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7,2</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3,8</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1,8</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Carbohydrates</a:t>
                      </a:r>
                      <a:r>
                        <a:rPr lang="de-DE" sz="800" kern="1200" dirty="0">
                          <a:solidFill>
                            <a:srgbClr val="661C31"/>
                          </a:solidFill>
                          <a:latin typeface="Franklin Gothic Book" panose="020B0503020102020204" pitchFamily="34" charset="0"/>
                          <a:ea typeface="+mn-ea"/>
                          <a:cs typeface="+mn-cs"/>
                        </a:rPr>
                        <a:t>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of</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which</a:t>
                      </a:r>
                      <a:r>
                        <a:rPr lang="de-DE" sz="800" kern="1200" dirty="0">
                          <a:solidFill>
                            <a:srgbClr val="661C31"/>
                          </a:solidFill>
                          <a:latin typeface="Franklin Gothic Book" panose="020B0503020102020204" pitchFamily="34" charset="0"/>
                          <a:ea typeface="+mn-ea"/>
                          <a:cs typeface="+mn-cs"/>
                        </a:rPr>
                        <a:t> total </a:t>
                      </a:r>
                      <a:r>
                        <a:rPr lang="de-DE" sz="800" kern="1200" dirty="0" err="1">
                          <a:solidFill>
                            <a:srgbClr val="661C31"/>
                          </a:solidFill>
                          <a:latin typeface="Franklin Gothic Book" panose="020B0503020102020204" pitchFamily="34" charset="0"/>
                          <a:ea typeface="+mn-ea"/>
                          <a:cs typeface="+mn-cs"/>
                        </a:rPr>
                        <a:t>sugars</a:t>
                      </a:r>
                      <a:r>
                        <a:rPr lang="de-DE" sz="800" kern="1200" dirty="0">
                          <a:solidFill>
                            <a:srgbClr val="661C31"/>
                          </a:solidFill>
                          <a:latin typeface="Franklin Gothic Book" panose="020B0503020102020204" pitchFamily="34" charset="0"/>
                          <a:ea typeface="+mn-ea"/>
                          <a:cs typeface="+mn-cs"/>
                        </a:rPr>
                        <a: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64,6</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28,2</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16,2</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7,0</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3"/>
                  </a:ext>
                </a:extLst>
              </a:tr>
              <a:tr h="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indent="0" algn="l" defTabSz="1043073" rtl="0" eaLnBrk="1" fontAlgn="auto" latinLnBrk="0" hangingPunct="1">
                        <a:lnSpc>
                          <a:spcPct val="107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Fibre</a:t>
                      </a:r>
                      <a:r>
                        <a:rPr lang="de-DE" sz="800" kern="1200" dirty="0">
                          <a:solidFill>
                            <a:srgbClr val="661C31"/>
                          </a:solidFill>
                          <a:latin typeface="Franklin Gothic Book" panose="020B0503020102020204" pitchFamily="34" charset="0"/>
                          <a:ea typeface="+mn-ea"/>
                          <a:cs typeface="+mn-cs"/>
                        </a:rPr>
                        <a: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4,3</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1,1</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4"/>
                  </a:ext>
                </a:extLst>
              </a:tr>
              <a:tr h="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indent="0" algn="l" defTabSz="1043073" rtl="0" eaLnBrk="1" fontAlgn="auto" latinLnBrk="0" hangingPunct="1">
                        <a:lnSpc>
                          <a:spcPct val="107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Protein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7,6</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1,9</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5"/>
                  </a:ext>
                </a:extLst>
              </a:tr>
              <a:tr h="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algn="l" defTabSz="1043073" rtl="0" eaLnBrk="1" latinLnBrk="0" hangingPunct="1">
                        <a:lnSpc>
                          <a:spcPct val="107000"/>
                        </a:lnSpc>
                        <a:spcAft>
                          <a:spcPts val="0"/>
                        </a:spcAft>
                      </a:pPr>
                      <a:r>
                        <a:rPr lang="de-DE" sz="800" kern="1200" dirty="0">
                          <a:solidFill>
                            <a:srgbClr val="661C31"/>
                          </a:solidFill>
                          <a:latin typeface="Franklin Gothic Book" panose="020B0503020102020204" pitchFamily="34" charset="0"/>
                          <a:ea typeface="+mn-ea"/>
                          <a:cs typeface="+mn-cs"/>
                        </a:rPr>
                        <a:t>Salt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0,40</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0,10</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6"/>
                  </a:ext>
                </a:extLst>
              </a:tr>
            </a:tbl>
          </a:graphicData>
        </a:graphic>
      </p:graphicFrame>
      <p:graphicFrame>
        <p:nvGraphicFramePr>
          <p:cNvPr id="25" name="Tabelle 24">
            <a:extLst>
              <a:ext uri="{FF2B5EF4-FFF2-40B4-BE49-F238E27FC236}">
                <a16:creationId xmlns:a16="http://schemas.microsoft.com/office/drawing/2014/main" id="{B16CA258-373B-7D2B-1B98-55C1569AD8B5}"/>
              </a:ext>
            </a:extLst>
          </p:cNvPr>
          <p:cNvGraphicFramePr>
            <a:graphicFrameLocks noGrp="1"/>
          </p:cNvGraphicFramePr>
          <p:nvPr>
            <p:extLst>
              <p:ext uri="{D42A27DB-BD31-4B8C-83A1-F6EECF244321}">
                <p14:modId xmlns:p14="http://schemas.microsoft.com/office/powerpoint/2010/main" val="2719737146"/>
              </p:ext>
            </p:extLst>
          </p:nvPr>
        </p:nvGraphicFramePr>
        <p:xfrm>
          <a:off x="6517862" y="6229433"/>
          <a:ext cx="3960438" cy="442920"/>
        </p:xfrm>
        <a:graphic>
          <a:graphicData uri="http://schemas.openxmlformats.org/drawingml/2006/table">
            <a:tbl>
              <a:tblPr firstRow="1" bandRow="1"/>
              <a:tblGrid>
                <a:gridCol w="3960438">
                  <a:extLst>
                    <a:ext uri="{9D8B030D-6E8A-4147-A177-3AD203B41FA5}">
                      <a16:colId xmlns:a16="http://schemas.microsoft.com/office/drawing/2014/main" val="20000"/>
                    </a:ext>
                  </a:extLst>
                </a:gridCol>
              </a:tblGrid>
              <a:tr h="244800">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Storage </a:t>
                      </a:r>
                      <a:r>
                        <a:rPr lang="de-DE" sz="900" b="1" kern="1200" dirty="0" err="1">
                          <a:solidFill>
                            <a:schemeClr val="bg1"/>
                          </a:solidFill>
                          <a:latin typeface="Franklin Gothic Book" panose="020B0503020102020204" pitchFamily="34" charset="0"/>
                          <a:ea typeface="+mn-ea"/>
                          <a:cs typeface="+mn-cs"/>
                        </a:rPr>
                        <a:t>conditions</a:t>
                      </a:r>
                      <a:r>
                        <a:rPr lang="de-DE" sz="900" b="1" kern="120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192228">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700" kern="1200" dirty="0">
                          <a:solidFill>
                            <a:srgbClr val="661C31"/>
                          </a:solidFill>
                          <a:latin typeface="Franklin Gothic Book" panose="020B0503020102020204" pitchFamily="34" charset="0"/>
                          <a:ea typeface="+mn-ea"/>
                          <a:cs typeface="+mn-cs"/>
                        </a:rPr>
                        <a:t>12 </a:t>
                      </a:r>
                      <a:r>
                        <a:rPr lang="en-US" sz="700" kern="1200" dirty="0">
                          <a:solidFill>
                            <a:srgbClr val="661C31"/>
                          </a:solidFill>
                          <a:latin typeface="Franklin Gothic Book" panose="020B0503020102020204" pitchFamily="34" charset="0"/>
                          <a:ea typeface="+mn-ea"/>
                          <a:cs typeface="+mn-cs"/>
                        </a:rPr>
                        <a:t>months in original package at temperatures below 20 °C and less than 60 % relative air humidity</a:t>
                      </a:r>
                      <a:endParaRPr lang="de-DE" sz="7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3" name="Tabelle 2">
            <a:extLst>
              <a:ext uri="{FF2B5EF4-FFF2-40B4-BE49-F238E27FC236}">
                <a16:creationId xmlns:a16="http://schemas.microsoft.com/office/drawing/2014/main" id="{9C6429FB-CEF1-B76F-577A-F7F4F9678DC3}"/>
              </a:ext>
            </a:extLst>
          </p:cNvPr>
          <p:cNvGraphicFramePr>
            <a:graphicFrameLocks noGrp="1"/>
          </p:cNvGraphicFramePr>
          <p:nvPr>
            <p:extLst>
              <p:ext uri="{D42A27DB-BD31-4B8C-83A1-F6EECF244321}">
                <p14:modId xmlns:p14="http://schemas.microsoft.com/office/powerpoint/2010/main" val="1266712034"/>
              </p:ext>
            </p:extLst>
          </p:nvPr>
        </p:nvGraphicFramePr>
        <p:xfrm>
          <a:off x="2128091" y="4993345"/>
          <a:ext cx="3960440" cy="784800"/>
        </p:xfrm>
        <a:graphic>
          <a:graphicData uri="http://schemas.openxmlformats.org/drawingml/2006/table">
            <a:tbl>
              <a:tblPr firstRow="1" bandRow="1"/>
              <a:tblGrid>
                <a:gridCol w="3960440">
                  <a:extLst>
                    <a:ext uri="{9D8B030D-6E8A-4147-A177-3AD203B41FA5}">
                      <a16:colId xmlns:a16="http://schemas.microsoft.com/office/drawing/2014/main" val="20000"/>
                    </a:ext>
                  </a:extLst>
                </a:gridCol>
              </a:tblGrid>
              <a:tr h="244800">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Description </a:t>
                      </a:r>
                      <a:r>
                        <a:rPr lang="de-DE" sz="900" b="1" kern="1200" dirty="0" err="1">
                          <a:solidFill>
                            <a:schemeClr val="bg1"/>
                          </a:solidFill>
                          <a:latin typeface="Franklin Gothic Book" panose="020B0503020102020204" pitchFamily="34" charset="0"/>
                          <a:ea typeface="+mn-ea"/>
                          <a:cs typeface="+mn-cs"/>
                        </a:rPr>
                        <a:t>of</a:t>
                      </a:r>
                      <a:r>
                        <a:rPr lang="de-DE" sz="900" b="1" kern="1200" dirty="0">
                          <a:solidFill>
                            <a:schemeClr val="bg1"/>
                          </a:solidFill>
                          <a:latin typeface="Franklin Gothic Book" panose="020B0503020102020204" pitchFamily="34" charset="0"/>
                          <a:ea typeface="+mn-ea"/>
                          <a:cs typeface="+mn-cs"/>
                        </a:rPr>
                        <a:t> </a:t>
                      </a:r>
                      <a:r>
                        <a:rPr lang="de-DE" sz="900" b="1" kern="1200" dirty="0" err="1">
                          <a:solidFill>
                            <a:schemeClr val="bg1"/>
                          </a:solidFill>
                          <a:latin typeface="Franklin Gothic Book" panose="020B0503020102020204" pitchFamily="34" charset="0"/>
                          <a:ea typeface="+mn-ea"/>
                          <a:cs typeface="+mn-cs"/>
                        </a:rPr>
                        <a:t>product</a:t>
                      </a:r>
                      <a:r>
                        <a:rPr lang="de-DE" sz="900" b="1" kern="120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540000">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800" kern="1200" dirty="0">
                          <a:solidFill>
                            <a:srgbClr val="661C31"/>
                          </a:solidFill>
                          <a:latin typeface="Franklin Gothic Book" panose="020B0503020102020204" pitchFamily="34" charset="0"/>
                          <a:ea typeface="+mn-ea"/>
                          <a:cs typeface="+mn-cs"/>
                        </a:rPr>
                        <a:t>This bar is a mixture of cereals, whole grain flakes, whole milk chocolate and other ingredients. After homogenisation and forming the ingredient mass is cut into portions and the base is covered with milk chocolate. </a:t>
                      </a:r>
                      <a:endParaRPr lang="de-DE" sz="800" kern="1200" noProof="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5" name="Tabelle 4">
            <a:extLst>
              <a:ext uri="{FF2B5EF4-FFF2-40B4-BE49-F238E27FC236}">
                <a16:creationId xmlns:a16="http://schemas.microsoft.com/office/drawing/2014/main" id="{7CD1225E-2159-988B-E19D-96D8C2167C69}"/>
              </a:ext>
            </a:extLst>
          </p:cNvPr>
          <p:cNvGraphicFramePr>
            <a:graphicFrameLocks noGrp="1"/>
          </p:cNvGraphicFramePr>
          <p:nvPr>
            <p:extLst>
              <p:ext uri="{D42A27DB-BD31-4B8C-83A1-F6EECF244321}">
                <p14:modId xmlns:p14="http://schemas.microsoft.com/office/powerpoint/2010/main" val="3282588936"/>
              </p:ext>
            </p:extLst>
          </p:nvPr>
        </p:nvGraphicFramePr>
        <p:xfrm>
          <a:off x="2128091" y="829007"/>
          <a:ext cx="4032506" cy="3718560"/>
        </p:xfrm>
        <a:graphic>
          <a:graphicData uri="http://schemas.openxmlformats.org/drawingml/2006/table">
            <a:tbl>
              <a:tblPr firstRow="1" bandRow="1">
                <a:tableStyleId>{5C22544A-7EE6-4342-B048-85BDC9FD1C3A}</a:tableStyleId>
              </a:tblPr>
              <a:tblGrid>
                <a:gridCol w="1381443">
                  <a:extLst>
                    <a:ext uri="{9D8B030D-6E8A-4147-A177-3AD203B41FA5}">
                      <a16:colId xmlns:a16="http://schemas.microsoft.com/office/drawing/2014/main" val="20000"/>
                    </a:ext>
                  </a:extLst>
                </a:gridCol>
                <a:gridCol w="2250446">
                  <a:extLst>
                    <a:ext uri="{9D8B030D-6E8A-4147-A177-3AD203B41FA5}">
                      <a16:colId xmlns:a16="http://schemas.microsoft.com/office/drawing/2014/main" val="20001"/>
                    </a:ext>
                  </a:extLst>
                </a:gridCol>
                <a:gridCol w="400617">
                  <a:extLst>
                    <a:ext uri="{9D8B030D-6E8A-4147-A177-3AD203B41FA5}">
                      <a16:colId xmlns:a16="http://schemas.microsoft.com/office/drawing/2014/main" val="20002"/>
                    </a:ext>
                  </a:extLst>
                </a:gridCol>
              </a:tblGrid>
              <a:tr h="155345">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err="1">
                          <a:solidFill>
                            <a:schemeClr val="bg1"/>
                          </a:solidFill>
                          <a:latin typeface="Franklin Gothic Book" panose="020B0503020102020204" pitchFamily="34" charset="0"/>
                          <a:ea typeface="+mn-ea"/>
                          <a:cs typeface="+mn-cs"/>
                        </a:rPr>
                        <a:t>Ingredients</a:t>
                      </a:r>
                      <a:endParaRPr lang="de-DE" sz="900" b="1" kern="1200" dirty="0">
                        <a:solidFill>
                          <a:schemeClr val="bg1"/>
                        </a:solidFill>
                        <a:latin typeface="Franklin Gothic Book" panose="020B0503020102020204" pitchFamily="34" charset="0"/>
                        <a:ea typeface="+mn-ea"/>
                        <a:cs typeface="+mn-cs"/>
                      </a:endParaRPr>
                    </a:p>
                  </a:txBody>
                  <a:tcPr>
                    <a:solidFill>
                      <a:srgbClr val="661C31"/>
                    </a:solidFill>
                  </a:tcPr>
                </a:tc>
                <a:tc>
                  <a:txBody>
                    <a:bodyPr/>
                    <a:lstStyle/>
                    <a:p>
                      <a:pPr algn="ctr"/>
                      <a:endParaRPr lang="de-DE" sz="1000" dirty="0">
                        <a:solidFill>
                          <a:schemeClr val="bg1"/>
                        </a:solidFill>
                        <a:latin typeface="Franklin Gothic Book" panose="020B0503020102020204" pitchFamily="34" charset="0"/>
                      </a:endParaRPr>
                    </a:p>
                  </a:txBody>
                  <a:tcPr>
                    <a:solidFill>
                      <a:srgbClr val="661C31"/>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In</a:t>
                      </a:r>
                      <a:r>
                        <a:rPr lang="de-DE" sz="1000" kern="1200" dirty="0">
                          <a:solidFill>
                            <a:schemeClr val="bg1"/>
                          </a:solidFill>
                          <a:latin typeface="Franklin Gothic Book" panose="020B0503020102020204" pitchFamily="34" charset="0"/>
                          <a:ea typeface="+mn-ea"/>
                          <a:cs typeface="+mn-cs"/>
                        </a:rPr>
                        <a:t> %</a:t>
                      </a:r>
                    </a:p>
                  </a:txBody>
                  <a:tcPr>
                    <a:solidFill>
                      <a:srgbClr val="661C31"/>
                    </a:solidFill>
                  </a:tcPr>
                </a:tc>
                <a:extLst>
                  <a:ext uri="{0D108BD9-81ED-4DB2-BD59-A6C34878D82A}">
                    <a16:rowId xmlns:a16="http://schemas.microsoft.com/office/drawing/2014/main" val="10000"/>
                  </a:ext>
                </a:extLst>
              </a:tr>
              <a:tr h="324000">
                <a:tc>
                  <a:txBody>
                    <a:bodyPr/>
                    <a:lstStyle/>
                    <a:p>
                      <a:r>
                        <a:rPr lang="de-DE" sz="800" dirty="0" err="1">
                          <a:solidFill>
                            <a:srgbClr val="661C31"/>
                          </a:solidFill>
                          <a:latin typeface="Franklin Gothic Book" panose="020B0503020102020204" pitchFamily="34" charset="0"/>
                        </a:rPr>
                        <a:t>whole</a:t>
                      </a:r>
                      <a:r>
                        <a:rPr lang="de-DE" sz="800" dirty="0">
                          <a:solidFill>
                            <a:srgbClr val="661C31"/>
                          </a:solidFill>
                          <a:latin typeface="Franklin Gothic Book" panose="020B0503020102020204" pitchFamily="34" charset="0"/>
                        </a:rPr>
                        <a:t> milk </a:t>
                      </a:r>
                      <a:r>
                        <a:rPr lang="de-DE" sz="800" dirty="0" err="1">
                          <a:solidFill>
                            <a:srgbClr val="661C31"/>
                          </a:solidFill>
                          <a:latin typeface="Franklin Gothic Book" panose="020B0503020102020204" pitchFamily="34" charset="0"/>
                        </a:rPr>
                        <a:t>chocolate</a:t>
                      </a:r>
                      <a:r>
                        <a:rPr lang="de-DE" sz="800" dirty="0">
                          <a:solidFill>
                            <a:srgbClr val="661C31"/>
                          </a:solidFill>
                          <a:latin typeface="Franklin Gothic Book" panose="020B0503020102020204" pitchFamily="34" charset="0"/>
                        </a:rPr>
                        <a:t> </a:t>
                      </a:r>
                    </a:p>
                  </a:txBody>
                  <a:tcPr>
                    <a:solidFill>
                      <a:srgbClr val="F2F2F2"/>
                    </a:solidFill>
                  </a:tcPr>
                </a:tc>
                <a:tc>
                  <a:txBody>
                    <a:bodyPr/>
                    <a:lstStyle/>
                    <a:p>
                      <a:r>
                        <a:rPr lang="de-DE" sz="800" dirty="0" err="1">
                          <a:solidFill>
                            <a:srgbClr val="661C31"/>
                          </a:solidFill>
                          <a:latin typeface="Franklin Gothic Book" panose="020B0503020102020204" pitchFamily="34" charset="0"/>
                        </a:rPr>
                        <a:t>sugar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whole</a:t>
                      </a:r>
                      <a:r>
                        <a:rPr lang="de-DE" sz="800" dirty="0">
                          <a:solidFill>
                            <a:srgbClr val="661C31"/>
                          </a:solidFill>
                          <a:latin typeface="Franklin Gothic Book" panose="020B0503020102020204" pitchFamily="34" charset="0"/>
                        </a:rPr>
                        <a:t> MILK </a:t>
                      </a:r>
                      <a:r>
                        <a:rPr lang="de-DE" sz="800" dirty="0" err="1">
                          <a:solidFill>
                            <a:srgbClr val="661C31"/>
                          </a:solidFill>
                          <a:latin typeface="Franklin Gothic Book" panose="020B0503020102020204" pitchFamily="34" charset="0"/>
                        </a:rPr>
                        <a:t>powder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cocoa</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butter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cocoa</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mass</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emulsifier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lecithins</a:t>
                      </a:r>
                      <a:r>
                        <a:rPr lang="de-DE" sz="800" dirty="0">
                          <a:solidFill>
                            <a:srgbClr val="661C31"/>
                          </a:solidFill>
                          <a:latin typeface="Franklin Gothic Book" panose="020B0503020102020204" pitchFamily="34" charset="0"/>
                        </a:rPr>
                        <a:t> </a:t>
                      </a:r>
                    </a:p>
                  </a:txBody>
                  <a:tcPr>
                    <a:solidFill>
                      <a:srgbClr val="F2F2F2"/>
                    </a:solidFill>
                  </a:tcPr>
                </a:tc>
                <a:tc>
                  <a:txBody>
                    <a:bodyPr/>
                    <a:lstStyle/>
                    <a:p>
                      <a:pPr algn="ctr"/>
                      <a:r>
                        <a:rPr lang="de-DE" sz="800" i="0" dirty="0">
                          <a:solidFill>
                            <a:srgbClr val="661C31"/>
                          </a:solidFill>
                          <a:latin typeface="Franklin Gothic Book" panose="020B0503020102020204" pitchFamily="34" charset="0"/>
                        </a:rPr>
                        <a:t>24,0</a:t>
                      </a:r>
                    </a:p>
                  </a:txBody>
                  <a:tcPr>
                    <a:solidFill>
                      <a:srgbClr val="F2F2F2"/>
                    </a:solidFill>
                  </a:tcPr>
                </a:tc>
                <a:extLst>
                  <a:ext uri="{0D108BD9-81ED-4DB2-BD59-A6C34878D82A}">
                    <a16:rowId xmlns:a16="http://schemas.microsoft.com/office/drawing/2014/main" val="10002"/>
                  </a:ext>
                </a:extLst>
              </a:tr>
              <a:tr h="180000">
                <a:tc>
                  <a:txBody>
                    <a:bodyPr/>
                    <a:lstStyle/>
                    <a:p>
                      <a:r>
                        <a:rPr lang="de-DE" sz="800" kern="1200" dirty="0" err="1">
                          <a:solidFill>
                            <a:srgbClr val="661C31"/>
                          </a:solidFill>
                          <a:latin typeface="Franklin Gothic Book" panose="020B0503020102020204" pitchFamily="34" charset="0"/>
                          <a:ea typeface="+mn-ea"/>
                          <a:cs typeface="+mn-cs"/>
                        </a:rPr>
                        <a:t>glucose</a:t>
                      </a:r>
                      <a:r>
                        <a:rPr lang="de-DE" sz="800" kern="1200" dirty="0">
                          <a:solidFill>
                            <a:srgbClr val="661C31"/>
                          </a:solidFill>
                          <a:latin typeface="Franklin Gothic Book" panose="020B0503020102020204" pitchFamily="34" charset="0"/>
                          <a:ea typeface="+mn-ea"/>
                          <a:cs typeface="+mn-cs"/>
                        </a:rPr>
                        <a:t>-fructose </a:t>
                      </a:r>
                      <a:r>
                        <a:rPr lang="de-DE" sz="800" kern="1200" dirty="0" err="1">
                          <a:solidFill>
                            <a:srgbClr val="661C31"/>
                          </a:solidFill>
                          <a:latin typeface="Franklin Gothic Book" panose="020B0503020102020204" pitchFamily="34" charset="0"/>
                          <a:ea typeface="+mn-ea"/>
                          <a:cs typeface="+mn-cs"/>
                        </a:rPr>
                        <a:t>syrup</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algn="ctr"/>
                      <a:r>
                        <a:rPr lang="de-DE" sz="800" i="0" dirty="0">
                          <a:solidFill>
                            <a:srgbClr val="661C31"/>
                          </a:solidFill>
                          <a:latin typeface="Franklin Gothic Book" panose="020B0503020102020204" pitchFamily="34" charset="0"/>
                        </a:rPr>
                        <a:t>17,0</a:t>
                      </a:r>
                    </a:p>
                  </a:txBody>
                  <a:tcPr>
                    <a:solidFill>
                      <a:srgbClr val="D9D9D9"/>
                    </a:solidFill>
                  </a:tcPr>
                </a:tc>
                <a:extLst>
                  <a:ext uri="{0D108BD9-81ED-4DB2-BD59-A6C34878D82A}">
                    <a16:rowId xmlns:a16="http://schemas.microsoft.com/office/drawing/2014/main" val="1160502577"/>
                  </a:ext>
                </a:extLst>
              </a:tr>
              <a:tr h="131656">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cereal</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extrudate</a:t>
                      </a:r>
                      <a:r>
                        <a:rPr lang="de-DE" sz="800" kern="1200" dirty="0">
                          <a:solidFill>
                            <a:srgbClr val="661C31"/>
                          </a:solidFill>
                          <a:latin typeface="Franklin Gothic Book" panose="020B0503020102020204" pitchFamily="34" charset="0"/>
                          <a:ea typeface="+mn-ea"/>
                          <a:cs typeface="+mn-cs"/>
                        </a:rPr>
                        <a:t> </a:t>
                      </a:r>
                    </a:p>
                    <a:p>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WHEAT </a:t>
                      </a:r>
                      <a:r>
                        <a:rPr lang="de-DE" sz="800" kern="1200" dirty="0" err="1">
                          <a:solidFill>
                            <a:srgbClr val="661C31"/>
                          </a:solidFill>
                          <a:latin typeface="Franklin Gothic Book" panose="020B0503020102020204" pitchFamily="34" charset="0"/>
                          <a:ea typeface="+mn-ea"/>
                          <a:cs typeface="+mn-cs"/>
                        </a:rPr>
                        <a:t>flour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rice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flour</a:t>
                      </a:r>
                      <a:r>
                        <a:rPr lang="de-DE" sz="800" kern="1200" dirty="0">
                          <a:solidFill>
                            <a:srgbClr val="661C31"/>
                          </a:solidFill>
                          <a:latin typeface="Franklin Gothic Book" panose="020B0503020102020204" pitchFamily="34" charset="0"/>
                          <a:ea typeface="+mn-ea"/>
                          <a:cs typeface="+mn-cs"/>
                        </a:rPr>
                        <a:t>, BARLEY malt </a:t>
                      </a:r>
                      <a:r>
                        <a:rPr lang="de-DE" sz="800" kern="1200" dirty="0" err="1">
                          <a:solidFill>
                            <a:srgbClr val="661C31"/>
                          </a:solidFill>
                          <a:latin typeface="Franklin Gothic Book" panose="020B0503020102020204" pitchFamily="34" charset="0"/>
                          <a:ea typeface="+mn-ea"/>
                          <a:cs typeface="+mn-cs"/>
                        </a:rPr>
                        <a:t>flour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sugar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maize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flour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salt</a:t>
                      </a: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algn="ctr"/>
                      <a:r>
                        <a:rPr lang="de-DE" sz="800" i="0" dirty="0">
                          <a:solidFill>
                            <a:srgbClr val="661C31"/>
                          </a:solidFill>
                          <a:latin typeface="Franklin Gothic Book" panose="020B0503020102020204" pitchFamily="34" charset="0"/>
                        </a:rPr>
                        <a:t>11,1</a:t>
                      </a:r>
                    </a:p>
                  </a:txBody>
                  <a:tcPr>
                    <a:solidFill>
                      <a:srgbClr val="F2F2F2"/>
                    </a:solidFill>
                  </a:tcPr>
                </a:tc>
                <a:extLst>
                  <a:ext uri="{0D108BD9-81ED-4DB2-BD59-A6C34878D82A}">
                    <a16:rowId xmlns:a16="http://schemas.microsoft.com/office/drawing/2014/main" val="10003"/>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whole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grain</a:t>
                      </a:r>
                      <a:r>
                        <a:rPr lang="de-DE" sz="800" kern="1200" dirty="0">
                          <a:solidFill>
                            <a:srgbClr val="661C31"/>
                          </a:solidFill>
                          <a:latin typeface="Franklin Gothic Book" panose="020B0503020102020204" pitchFamily="34" charset="0"/>
                          <a:ea typeface="+mn-ea"/>
                          <a:cs typeface="+mn-cs"/>
                        </a:rPr>
                        <a:t> OAT </a:t>
                      </a:r>
                      <a:r>
                        <a:rPr lang="de-DE" sz="800" kern="1200" dirty="0" err="1">
                          <a:solidFill>
                            <a:srgbClr val="661C31"/>
                          </a:solidFill>
                          <a:latin typeface="Franklin Gothic Book" panose="020B0503020102020204" pitchFamily="34" charset="0"/>
                          <a:ea typeface="+mn-ea"/>
                          <a:cs typeface="+mn-cs"/>
                        </a:rPr>
                        <a:t>flakes</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endParaRPr lang="de-DE" sz="800" dirty="0">
                        <a:solidFill>
                          <a:srgbClr val="661C31"/>
                        </a:solidFill>
                        <a:latin typeface="Franklin Gothic Book" panose="020B0503020102020204" pitchFamily="34" charset="0"/>
                      </a:endParaRPr>
                    </a:p>
                  </a:txBody>
                  <a:tcPr>
                    <a:solidFill>
                      <a:srgbClr val="D9D9D9"/>
                    </a:solidFill>
                  </a:tcPr>
                </a:tc>
                <a:tc>
                  <a:txBody>
                    <a:bodyPr/>
                    <a:lstStyle/>
                    <a:p>
                      <a:pPr algn="ctr"/>
                      <a:r>
                        <a:rPr lang="de-DE" sz="800" i="0" dirty="0">
                          <a:solidFill>
                            <a:srgbClr val="661C31"/>
                          </a:solidFill>
                          <a:latin typeface="Franklin Gothic Book" panose="020B0503020102020204" pitchFamily="34" charset="0"/>
                        </a:rPr>
                        <a:t>10,9</a:t>
                      </a:r>
                    </a:p>
                  </a:txBody>
                  <a:tcPr>
                    <a:solidFill>
                      <a:srgbClr val="D9D9D9"/>
                    </a:solidFill>
                  </a:tcPr>
                </a:tc>
                <a:extLst>
                  <a:ext uri="{0D108BD9-81ED-4DB2-BD59-A6C34878D82A}">
                    <a16:rowId xmlns:a16="http://schemas.microsoft.com/office/drawing/2014/main" val="10004"/>
                  </a:ext>
                </a:extLst>
              </a:tr>
              <a:tr h="180000">
                <a:tc>
                  <a:txBody>
                    <a:bodyPr/>
                    <a:lstStyle/>
                    <a:p>
                      <a:r>
                        <a:rPr lang="de-DE" sz="800" kern="1200" dirty="0" err="1">
                          <a:solidFill>
                            <a:srgbClr val="661C31"/>
                          </a:solidFill>
                          <a:latin typeface="Franklin Gothic Book" panose="020B0503020102020204" pitchFamily="34" charset="0"/>
                          <a:ea typeface="+mn-ea"/>
                          <a:cs typeface="+mn-cs"/>
                        </a:rPr>
                        <a:t>whole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grain</a:t>
                      </a:r>
                      <a:r>
                        <a:rPr lang="de-DE" sz="800" kern="1200" dirty="0">
                          <a:solidFill>
                            <a:srgbClr val="661C31"/>
                          </a:solidFill>
                          <a:latin typeface="Franklin Gothic Book" panose="020B0503020102020204" pitchFamily="34" charset="0"/>
                          <a:ea typeface="+mn-ea"/>
                          <a:cs typeface="+mn-cs"/>
                        </a:rPr>
                        <a:t> WHEAT </a:t>
                      </a:r>
                      <a:r>
                        <a:rPr lang="de-DE" sz="800" kern="1200" dirty="0" err="1">
                          <a:solidFill>
                            <a:srgbClr val="661C31"/>
                          </a:solidFill>
                          <a:latin typeface="Franklin Gothic Book" panose="020B0503020102020204" pitchFamily="34" charset="0"/>
                          <a:ea typeface="+mn-ea"/>
                          <a:cs typeface="+mn-cs"/>
                        </a:rPr>
                        <a:t>flakes</a:t>
                      </a:r>
                      <a:endParaRPr lang="de-DE" sz="800" dirty="0"/>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algn="ctr"/>
                      <a:r>
                        <a:rPr lang="de-DE" sz="800" i="0" dirty="0">
                          <a:solidFill>
                            <a:srgbClr val="661C31"/>
                          </a:solidFill>
                          <a:latin typeface="Franklin Gothic Book" panose="020B0503020102020204" pitchFamily="34" charset="0"/>
                        </a:rPr>
                        <a:t>10,9</a:t>
                      </a:r>
                    </a:p>
                  </a:txBody>
                  <a:tcPr>
                    <a:solidFill>
                      <a:srgbClr val="F2F2F2"/>
                    </a:solidFill>
                  </a:tcPr>
                </a:tc>
                <a:extLst>
                  <a:ext uri="{0D108BD9-81ED-4DB2-BD59-A6C34878D82A}">
                    <a16:rowId xmlns:a16="http://schemas.microsoft.com/office/drawing/2014/main" val="10005"/>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glucose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syrup</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661C31"/>
                        </a:solidFill>
                        <a:effectLst/>
                        <a:uLnTx/>
                        <a:uFillTx/>
                        <a:latin typeface="Franklin Gothic Book" panose="020B0503020102020204" pitchFamily="34" charset="0"/>
                        <a:ea typeface="+mn-ea"/>
                        <a:cs typeface="+mn-cs"/>
                      </a:endParaRPr>
                    </a:p>
                  </a:txBody>
                  <a:tcPr>
                    <a:solidFill>
                      <a:srgbClr val="D9D9D9"/>
                    </a:solidFill>
                  </a:tcPr>
                </a:tc>
                <a:tc>
                  <a:txBody>
                    <a:bodyPr/>
                    <a:lstStyle/>
                    <a:p>
                      <a:pPr algn="ctr"/>
                      <a:r>
                        <a:rPr lang="de-DE" sz="800" dirty="0">
                          <a:solidFill>
                            <a:srgbClr val="661C31"/>
                          </a:solidFill>
                          <a:latin typeface="Franklin Gothic Book" panose="020B0503020102020204" pitchFamily="34" charset="0"/>
                        </a:rPr>
                        <a:t>10,5</a:t>
                      </a:r>
                    </a:p>
                  </a:txBody>
                  <a:tcPr>
                    <a:solidFill>
                      <a:srgbClr val="D9D9D9"/>
                    </a:solidFill>
                  </a:tcPr>
                </a:tc>
                <a:extLst>
                  <a:ext uri="{0D108BD9-81ED-4DB2-BD59-A6C34878D82A}">
                    <a16:rowId xmlns:a16="http://schemas.microsoft.com/office/drawing/2014/main" val="2093215701"/>
                  </a:ext>
                </a:extLst>
              </a:tr>
              <a:tr h="198054">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chopped</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roasted</a:t>
                      </a:r>
                      <a:r>
                        <a:rPr lang="de-DE" sz="800" kern="1200" dirty="0">
                          <a:solidFill>
                            <a:srgbClr val="661C31"/>
                          </a:solidFill>
                          <a:latin typeface="Franklin Gothic Book" panose="020B0503020102020204" pitchFamily="34" charset="0"/>
                          <a:ea typeface="+mn-ea"/>
                          <a:cs typeface="+mn-cs"/>
                        </a:rPr>
                        <a:t> PEANUTS</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de-DE" sz="800" kern="1200" dirty="0">
                          <a:solidFill>
                            <a:srgbClr val="661C31"/>
                          </a:solidFill>
                          <a:latin typeface="Franklin Gothic Book" panose="020B0503020102020204" pitchFamily="34" charset="0"/>
                          <a:ea typeface="+mn-ea"/>
                          <a:cs typeface="+mn-cs"/>
                        </a:rPr>
                        <a:t>3,7</a:t>
                      </a:r>
                    </a:p>
                  </a:txBody>
                  <a:tcPr>
                    <a:solidFill>
                      <a:srgbClr val="F2F2F2"/>
                    </a:solidFill>
                  </a:tcPr>
                </a:tc>
                <a:extLst>
                  <a:ext uri="{0D108BD9-81ED-4DB2-BD59-A6C34878D82A}">
                    <a16:rowId xmlns:a16="http://schemas.microsoft.com/office/drawing/2014/main" val="321929857"/>
                  </a:ext>
                </a:extLst>
              </a:tr>
              <a:tr h="198054">
                <a:tc>
                  <a:txBody>
                    <a:bodyPr/>
                    <a:lstStyle/>
                    <a:p>
                      <a:pPr marL="0" algn="l" defTabSz="1043073" rtl="0" eaLnBrk="1" fontAlgn="t" latinLnBrk="0" hangingPunct="1"/>
                      <a:r>
                        <a:rPr lang="de-DE" sz="800" kern="1200" dirty="0">
                          <a:solidFill>
                            <a:srgbClr val="661C31"/>
                          </a:solidFill>
                          <a:latin typeface="Franklin Gothic Book" panose="020B0503020102020204" pitchFamily="34" charset="0"/>
                          <a:ea typeface="+mn-ea"/>
                          <a:cs typeface="+mn-cs"/>
                        </a:rPr>
                        <a:t>    </a:t>
                      </a:r>
                      <a:r>
                        <a:rPr lang="de-DE" sz="800" dirty="0" err="1">
                          <a:solidFill>
                            <a:srgbClr val="661C31"/>
                          </a:solidFill>
                          <a:latin typeface="Franklin Gothic Book" panose="020B0503020102020204" pitchFamily="34" charset="0"/>
                        </a:rPr>
                        <a:t>cereal</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cocoa</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extrudate</a:t>
                      </a:r>
                      <a:endParaRPr lang="de-DE" sz="800" kern="1200" dirty="0">
                        <a:solidFill>
                          <a:srgbClr val="661C31"/>
                        </a:solidFill>
                        <a:latin typeface="Franklin Gothic Book" panose="020B0503020102020204" pitchFamily="34" charset="0"/>
                        <a:ea typeface="+mn-ea"/>
                        <a:cs typeface="+mn-cs"/>
                      </a:endParaRPr>
                    </a:p>
                  </a:txBody>
                  <a:tcPr marL="0" marR="0" marT="0" marB="0">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dirty="0">
                          <a:solidFill>
                            <a:srgbClr val="661C31"/>
                          </a:solidFill>
                          <a:latin typeface="Franklin Gothic Book" panose="020B0503020102020204" pitchFamily="34" charset="0"/>
                        </a:rPr>
                        <a:t>WHEAT </a:t>
                      </a:r>
                      <a:r>
                        <a:rPr lang="de-DE" sz="800" dirty="0" err="1">
                          <a:solidFill>
                            <a:srgbClr val="661C31"/>
                          </a:solidFill>
                          <a:latin typeface="Franklin Gothic Book" panose="020B0503020102020204" pitchFamily="34" charset="0"/>
                        </a:rPr>
                        <a:t>flour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rice</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flour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maize</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semolina</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fat</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reduced</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cocoa</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powder</a:t>
                      </a:r>
                      <a:r>
                        <a:rPr lang="de-DE" sz="800" dirty="0">
                          <a:solidFill>
                            <a:srgbClr val="661C31"/>
                          </a:solidFill>
                          <a:latin typeface="Franklin Gothic Book" panose="020B0503020102020204" pitchFamily="34" charset="0"/>
                        </a:rPr>
                        <a:t>, BARLEY malt </a:t>
                      </a:r>
                      <a:r>
                        <a:rPr lang="de-DE" sz="800" dirty="0" err="1">
                          <a:solidFill>
                            <a:srgbClr val="661C31"/>
                          </a:solidFill>
                          <a:latin typeface="Franklin Gothic Book" panose="020B0503020102020204" pitchFamily="34" charset="0"/>
                        </a:rPr>
                        <a:t>flour</a:t>
                      </a:r>
                      <a:r>
                        <a:rPr lang="de-DE" sz="800" dirty="0">
                          <a:solidFill>
                            <a:srgbClr val="661C31"/>
                          </a:solidFill>
                          <a:latin typeface="Franklin Gothic Book" panose="020B0503020102020204" pitchFamily="34" charset="0"/>
                        </a:rPr>
                        <a:t>, </a:t>
                      </a:r>
                      <a:r>
                        <a:rPr lang="de-DE" sz="800" dirty="0" err="1">
                          <a:solidFill>
                            <a:srgbClr val="661C31"/>
                          </a:solidFill>
                          <a:latin typeface="Franklin Gothic Book" panose="020B0503020102020204" pitchFamily="34" charset="0"/>
                        </a:rPr>
                        <a:t>salt</a:t>
                      </a:r>
                      <a:r>
                        <a:rPr lang="de-DE" sz="800" dirty="0">
                          <a:solidFill>
                            <a:srgbClr val="661C31"/>
                          </a:solidFill>
                          <a:latin typeface="Franklin Gothic Book" panose="020B0503020102020204" pitchFamily="34" charset="0"/>
                        </a:rPr>
                        <a:t> </a:t>
                      </a:r>
                      <a:endParaRPr lang="de-DE"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r>
                        <a:rPr lang="de-DE" sz="800" kern="1200" dirty="0">
                          <a:solidFill>
                            <a:srgbClr val="661C31"/>
                          </a:solidFill>
                          <a:latin typeface="Franklin Gothic Book" panose="020B0503020102020204" pitchFamily="34" charset="0"/>
                          <a:ea typeface="+mn-ea"/>
                          <a:cs typeface="+mn-cs"/>
                        </a:rPr>
                        <a:t>3,7</a:t>
                      </a:r>
                    </a:p>
                  </a:txBody>
                  <a:tcPr>
                    <a:solidFill>
                      <a:srgbClr val="D9D9D9"/>
                    </a:solidFill>
                  </a:tcPr>
                </a:tc>
                <a:extLst>
                  <a:ext uri="{0D108BD9-81ED-4DB2-BD59-A6C34878D82A}">
                    <a16:rowId xmlns:a16="http://schemas.microsoft.com/office/drawing/2014/main" val="872678212"/>
                  </a:ext>
                </a:extLst>
              </a:tr>
              <a:tr h="198054">
                <a:tc>
                  <a:txBody>
                    <a:bodyPr/>
                    <a:lstStyle/>
                    <a:p>
                      <a:pPr marL="0" algn="l" defTabSz="1043073" rtl="0" eaLnBrk="1" latinLnBrk="0" hangingPunct="1"/>
                      <a:r>
                        <a:rPr lang="de-DE" sz="800" kern="1200" dirty="0" err="1">
                          <a:solidFill>
                            <a:srgbClr val="661C31"/>
                          </a:solidFill>
                          <a:latin typeface="Franklin Gothic Book" panose="020B0503020102020204" pitchFamily="34" charset="0"/>
                          <a:ea typeface="+mn-ea"/>
                          <a:cs typeface="+mn-cs"/>
                        </a:rPr>
                        <a:t>sweetened</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cornflakes</a:t>
                      </a: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maize</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sugar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salt</a:t>
                      </a:r>
                      <a:r>
                        <a:rPr lang="de-DE" sz="800" kern="1200" dirty="0">
                          <a:solidFill>
                            <a:srgbClr val="661C31"/>
                          </a:solidFill>
                          <a:latin typeface="Franklin Gothic Book" panose="020B0503020102020204" pitchFamily="34" charset="0"/>
                          <a:ea typeface="+mn-ea"/>
                          <a:cs typeface="+mn-cs"/>
                        </a:rPr>
                        <a:t>, BARLEY malt </a:t>
                      </a:r>
                      <a:r>
                        <a:rPr lang="de-DE" sz="800" kern="1200" dirty="0" err="1">
                          <a:solidFill>
                            <a:srgbClr val="661C31"/>
                          </a:solidFill>
                          <a:latin typeface="Franklin Gothic Book" panose="020B0503020102020204" pitchFamily="34" charset="0"/>
                          <a:ea typeface="+mn-ea"/>
                          <a:cs typeface="+mn-cs"/>
                        </a:rPr>
                        <a:t>extract</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emulsifier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lecithins</a:t>
                      </a:r>
                      <a:endParaRPr lang="de-DE"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de-DE" sz="800" kern="1200" dirty="0">
                          <a:solidFill>
                            <a:srgbClr val="661C31"/>
                          </a:solidFill>
                          <a:latin typeface="Franklin Gothic Book" panose="020B0503020102020204" pitchFamily="34" charset="0"/>
                          <a:ea typeface="+mn-ea"/>
                          <a:cs typeface="+mn-cs"/>
                        </a:rPr>
                        <a:t>3,7</a:t>
                      </a:r>
                    </a:p>
                  </a:txBody>
                  <a:tcPr>
                    <a:solidFill>
                      <a:srgbClr val="F2F2F2"/>
                    </a:solidFill>
                  </a:tcPr>
                </a:tc>
                <a:extLst>
                  <a:ext uri="{0D108BD9-81ED-4DB2-BD59-A6C34878D82A}">
                    <a16:rowId xmlns:a16="http://schemas.microsoft.com/office/drawing/2014/main" val="3145197526"/>
                  </a:ext>
                </a:extLst>
              </a:tr>
              <a:tr h="211987">
                <a:tc>
                  <a:txBody>
                    <a:bodyPr/>
                    <a:lstStyle/>
                    <a:p>
                      <a:pPr marL="0" algn="l" defTabSz="1043073" rtl="0" eaLnBrk="1" latinLnBrk="0" hangingPunct="1"/>
                      <a:r>
                        <a:rPr lang="de-DE" sz="800" kern="1200" dirty="0" err="1">
                          <a:solidFill>
                            <a:srgbClr val="661C31"/>
                          </a:solidFill>
                          <a:latin typeface="Franklin Gothic Book" panose="020B0503020102020204" pitchFamily="34" charset="0"/>
                          <a:ea typeface="+mn-ea"/>
                          <a:cs typeface="+mn-cs"/>
                        </a:rPr>
                        <a:t>coconut</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fat</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r>
                        <a:rPr lang="de-DE" sz="800" kern="1200" dirty="0">
                          <a:solidFill>
                            <a:srgbClr val="661C31"/>
                          </a:solidFill>
                          <a:latin typeface="Franklin Gothic Book" panose="020B0503020102020204" pitchFamily="34" charset="0"/>
                          <a:ea typeface="+mn-ea"/>
                          <a:cs typeface="+mn-cs"/>
                        </a:rPr>
                        <a:t>2,4</a:t>
                      </a:r>
                    </a:p>
                  </a:txBody>
                  <a:tcPr>
                    <a:solidFill>
                      <a:srgbClr val="D9D9D9"/>
                    </a:solidFill>
                  </a:tcPr>
                </a:tc>
                <a:extLst>
                  <a:ext uri="{0D108BD9-81ED-4DB2-BD59-A6C34878D82A}">
                    <a16:rowId xmlns:a16="http://schemas.microsoft.com/office/drawing/2014/main" val="3144882877"/>
                  </a:ext>
                </a:extLst>
              </a:tr>
              <a:tr h="180000">
                <a:tc>
                  <a:txBody>
                    <a:bodyPr/>
                    <a:lstStyle/>
                    <a:p>
                      <a:pPr marL="0" algn="l" defTabSz="1043073" rtl="0" eaLnBrk="1" latinLnBrk="0" hangingPunct="1"/>
                      <a:r>
                        <a:rPr lang="de-DE" sz="800" kern="1200" dirty="0" err="1">
                          <a:solidFill>
                            <a:srgbClr val="661C31"/>
                          </a:solidFill>
                          <a:latin typeface="Franklin Gothic Book" panose="020B0503020102020204" pitchFamily="34" charset="0"/>
                          <a:ea typeface="+mn-ea"/>
                          <a:cs typeface="+mn-cs"/>
                        </a:rPr>
                        <a:t>honey</a:t>
                      </a: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de-DE" sz="800" kern="1200" dirty="0">
                          <a:solidFill>
                            <a:srgbClr val="661C31"/>
                          </a:solidFill>
                          <a:latin typeface="Franklin Gothic Book" panose="020B0503020102020204" pitchFamily="34" charset="0"/>
                          <a:ea typeface="+mn-ea"/>
                          <a:cs typeface="+mn-cs"/>
                        </a:rPr>
                        <a:t>1,0</a:t>
                      </a:r>
                    </a:p>
                  </a:txBody>
                  <a:tcPr>
                    <a:solidFill>
                      <a:srgbClr val="F2F2F2"/>
                    </a:solidFill>
                  </a:tcPr>
                </a:tc>
                <a:extLst>
                  <a:ext uri="{0D108BD9-81ED-4DB2-BD59-A6C34878D82A}">
                    <a16:rowId xmlns:a16="http://schemas.microsoft.com/office/drawing/2014/main" val="2446520416"/>
                  </a:ext>
                </a:extLst>
              </a:tr>
              <a:tr h="180000">
                <a:tc>
                  <a:txBody>
                    <a:bodyPr/>
                    <a:lstStyle/>
                    <a:p>
                      <a:pPr marL="0" algn="l" defTabSz="1043073" rtl="0" eaLnBrk="1" latinLnBrk="0" hangingPunct="1"/>
                      <a:r>
                        <a:rPr lang="de-DE" sz="800" kern="1200" dirty="0" err="1">
                          <a:solidFill>
                            <a:srgbClr val="661C31"/>
                          </a:solidFill>
                          <a:latin typeface="Franklin Gothic Book" panose="020B0503020102020204" pitchFamily="34" charset="0"/>
                          <a:ea typeface="+mn-ea"/>
                          <a:cs typeface="+mn-cs"/>
                        </a:rPr>
                        <a:t>humectant</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glycerol</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extLst>
                  <a:ext uri="{0D108BD9-81ED-4DB2-BD59-A6C34878D82A}">
                    <a16:rowId xmlns:a16="http://schemas.microsoft.com/office/drawing/2014/main" val="1595397605"/>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emulsifier</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lecithins</a:t>
                      </a:r>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endParaRPr lang="de-DE" sz="800" kern="1200" dirty="0">
                        <a:solidFill>
                          <a:srgbClr val="661C31"/>
                        </a:solidFill>
                        <a:latin typeface="Franklin Gothic Book" panose="020B0503020102020204" pitchFamily="34" charset="0"/>
                        <a:ea typeface="+mn-ea"/>
                        <a:cs typeface="+mn-cs"/>
                      </a:endParaRPr>
                    </a:p>
                  </a:txBody>
                  <a:tcPr>
                    <a:solidFill>
                      <a:srgbClr val="F2F2F2"/>
                    </a:solidFill>
                  </a:tcPr>
                </a:tc>
                <a:extLst>
                  <a:ext uri="{0D108BD9-81ED-4DB2-BD59-A6C34878D82A}">
                    <a16:rowId xmlns:a16="http://schemas.microsoft.com/office/drawing/2014/main" val="2065506063"/>
                  </a:ext>
                </a:extLst>
              </a:tr>
              <a:tr h="180000">
                <a:tc>
                  <a:txBody>
                    <a:bodyPr/>
                    <a:lstStyle/>
                    <a:p>
                      <a:pPr marL="0" algn="l" defTabSz="1043073" rtl="0" eaLnBrk="1" latinLnBrk="0" hangingPunct="1"/>
                      <a:r>
                        <a:rPr lang="de-DE" sz="800" kern="1200" dirty="0" err="1">
                          <a:solidFill>
                            <a:srgbClr val="661C31"/>
                          </a:solidFill>
                          <a:latin typeface="Franklin Gothic Book" panose="020B0503020102020204" pitchFamily="34" charset="0"/>
                          <a:ea typeface="+mn-ea"/>
                          <a:cs typeface="+mn-cs"/>
                        </a:rPr>
                        <a:t>salt</a:t>
                      </a:r>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de-DE"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endParaRPr lang="de-DE" sz="800" kern="1200" dirty="0">
                        <a:solidFill>
                          <a:srgbClr val="661C31"/>
                        </a:solidFill>
                        <a:latin typeface="Franklin Gothic Book" panose="020B0503020102020204" pitchFamily="34" charset="0"/>
                        <a:ea typeface="+mn-ea"/>
                        <a:cs typeface="+mn-cs"/>
                      </a:endParaRPr>
                    </a:p>
                  </a:txBody>
                  <a:tcPr>
                    <a:solidFill>
                      <a:srgbClr val="D9D9D9"/>
                    </a:solidFill>
                  </a:tcPr>
                </a:tc>
                <a:extLst>
                  <a:ext uri="{0D108BD9-81ED-4DB2-BD59-A6C34878D82A}">
                    <a16:rowId xmlns:a16="http://schemas.microsoft.com/office/drawing/2014/main" val="1821975391"/>
                  </a:ext>
                </a:extLst>
              </a:tr>
            </a:tbl>
          </a:graphicData>
        </a:graphic>
      </p:graphicFrame>
      <p:pic>
        <p:nvPicPr>
          <p:cNvPr id="11" name="Grafik 10" descr="Ein Bild, das Essen, Süßigkeiten, Snack, Süßwaren enthält.&#10;&#10;KI-generierte Inhalte können fehlerhaft sein.">
            <a:extLst>
              <a:ext uri="{FF2B5EF4-FFF2-40B4-BE49-F238E27FC236}">
                <a16:creationId xmlns:a16="http://schemas.microsoft.com/office/drawing/2014/main" id="{B3D1ACF9-8760-2464-9B59-FA2453220FC6}"/>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a:stretch/>
        </p:blipFill>
        <p:spPr>
          <a:xfrm>
            <a:off x="6672741" y="1559615"/>
            <a:ext cx="3568758" cy="1486181"/>
          </a:xfrm>
          <a:prstGeom prst="rect">
            <a:avLst/>
          </a:prstGeom>
          <a:ln>
            <a:noFill/>
          </a:ln>
          <a:effectLst>
            <a:softEdge rad="112500"/>
          </a:effectLst>
        </p:spPr>
      </p:pic>
      <p:pic>
        <p:nvPicPr>
          <p:cNvPr id="13" name="Grafik 12" descr="Ein Bild, das Text, Logo, Schrift, Grafiken enthält.&#10;&#10;KI-generierte Inhalte können fehlerhaft sein.">
            <a:extLst>
              <a:ext uri="{FF2B5EF4-FFF2-40B4-BE49-F238E27FC236}">
                <a16:creationId xmlns:a16="http://schemas.microsoft.com/office/drawing/2014/main" id="{198B9F29-3073-54E8-F408-1F199E99C3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48353" y="3132559"/>
            <a:ext cx="845970" cy="507582"/>
          </a:xfrm>
          <a:prstGeom prst="rect">
            <a:avLst/>
          </a:prstGeom>
        </p:spPr>
      </p:pic>
    </p:spTree>
    <p:extLst>
      <p:ext uri="{BB962C8B-B14F-4D97-AF65-F5344CB8AC3E}">
        <p14:creationId xmlns:p14="http://schemas.microsoft.com/office/powerpoint/2010/main" val="1299991375"/>
      </p:ext>
    </p:extLst>
  </p:cSld>
  <p:clrMapOvr>
    <a:masterClrMapping/>
  </p:clrMapOvr>
</p:sld>
</file>

<file path=ppt/theme/theme1.xml><?xml version="1.0" encoding="utf-8"?>
<a:theme xmlns:a="http://schemas.openxmlformats.org/drawingml/2006/main" name="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2.xml><?xml version="1.0" encoding="utf-8"?>
<a:theme xmlns:a="http://schemas.openxmlformats.org/drawingml/2006/main" name="1_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3.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a8b93ac7-3440-4a5d-bfba-14b9df8d60ab" xsi:nil="true"/>
    <lcf76f155ced4ddcb4097134ff3c332f xmlns="a8b93ac7-3440-4a5d-bfba-14b9df8d60ab">
      <Terms xmlns="http://schemas.microsoft.com/office/infopath/2007/PartnerControls"/>
    </lcf76f155ced4ddcb4097134ff3c332f>
    <TaxCatchAll xmlns="a1898e6c-7304-4b58-94ac-ae166c4266fd" xsi:nil="true"/>
    <Myname xmlns="a8b93ac7-3440-4a5d-bfba-14b9df8d60a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9A7D7B01688C40B96393EDFA5A917A" ma:contentTypeVersion="20" ma:contentTypeDescription="Crée un document." ma:contentTypeScope="" ma:versionID="44ae639bdaeeee28cb4667f09191d212">
  <xsd:schema xmlns:xsd="http://www.w3.org/2001/XMLSchema" xmlns:xs="http://www.w3.org/2001/XMLSchema" xmlns:p="http://schemas.microsoft.com/office/2006/metadata/properties" xmlns:ns2="a8b93ac7-3440-4a5d-bfba-14b9df8d60ab" xmlns:ns3="217ef9f1-9118-4ece-8043-580f6c18e255" xmlns:ns4="a1898e6c-7304-4b58-94ac-ae166c4266fd" targetNamespace="http://schemas.microsoft.com/office/2006/metadata/properties" ma:root="true" ma:fieldsID="8a37c25e8f1ebd0472fd7616cf0845f4" ns2:_="" ns3:_="" ns4:_="">
    <xsd:import namespace="a8b93ac7-3440-4a5d-bfba-14b9df8d60ab"/>
    <xsd:import namespace="217ef9f1-9118-4ece-8043-580f6c18e255"/>
    <xsd:import namespace="a1898e6c-7304-4b58-94ac-ae166c4266f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MediaServiceObjectDetectorVersions" minOccurs="0"/>
                <xsd:element ref="ns2:Myname"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b93ac7-3440-4a5d-bfba-14b9df8d60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4746b5bc-1c2c-4445-b1e2-8bd04f42eab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yname" ma:index="25" nillable="true" ma:displayName="My name" ma:format="Dropdown" ma:internalName="Myname">
      <xsd:simpleType>
        <xsd:restriction base="dms:Text">
          <xsd:maxLength value="255"/>
        </xsd:restriction>
      </xsd:simpleType>
    </xsd:element>
    <xsd:element name="_Flow_SignoffStatus" ma:index="26" nillable="true" ma:displayName="Status Unterschrift" ma:internalName="Status_x0020_Unterschrift">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7ef9f1-9118-4ece-8043-580f6c18e25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898e6c-7304-4b58-94ac-ae166c4266f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fe6e0a2-c1af-454e-a870-69ae260a8c0c}" ma:internalName="TaxCatchAll" ma:showField="CatchAllData" ma:web="217ef9f1-9118-4ece-8043-580f6c18e2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BC0896-1C52-49BD-B6A6-7C01BAFD5771}">
  <ds:schemaRefs>
    <ds:schemaRef ds:uri="http://www.w3.org/XML/1998/namespace"/>
    <ds:schemaRef ds:uri="217ef9f1-9118-4ece-8043-580f6c18e255"/>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a1898e6c-7304-4b58-94ac-ae166c4266fd"/>
    <ds:schemaRef ds:uri="a8b93ac7-3440-4a5d-bfba-14b9df8d60ab"/>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F38FFA9E-B348-4605-A4D6-9032E455CFF8}">
  <ds:schemaRefs>
    <ds:schemaRef ds:uri="http://schemas.microsoft.com/sharepoint/v3/contenttype/forms"/>
  </ds:schemaRefs>
</ds:datastoreItem>
</file>

<file path=customXml/itemProps3.xml><?xml version="1.0" encoding="utf-8"?>
<ds:datastoreItem xmlns:ds="http://schemas.openxmlformats.org/officeDocument/2006/customXml" ds:itemID="{9541156A-9736-465A-AB88-742E5A8BC81B}"/>
</file>

<file path=docProps/app.xml><?xml version="1.0" encoding="utf-8"?>
<Properties xmlns="http://schemas.openxmlformats.org/officeDocument/2006/extended-properties" xmlns:vt="http://schemas.openxmlformats.org/officeDocument/2006/docPropsVTypes">
  <Template>Brueggen_Master_2015</Template>
  <TotalTime>0</TotalTime>
  <Words>314</Words>
  <Application>Microsoft Office PowerPoint</Application>
  <PresentationFormat>Benutzerdefiniert</PresentationFormat>
  <Paragraphs>71</Paragraphs>
  <Slides>1</Slides>
  <Notes>1</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1</vt:i4>
      </vt:variant>
    </vt:vector>
  </HeadingPairs>
  <TitlesOfParts>
    <vt:vector size="9" baseType="lpstr">
      <vt:lpstr>Arial</vt:lpstr>
      <vt:lpstr>DINOT</vt:lpstr>
      <vt:lpstr>DINOT-Bold</vt:lpstr>
      <vt:lpstr>Franklin Gothic Book</vt:lpstr>
      <vt:lpstr>Franklin Gothic Demi</vt:lpstr>
      <vt:lpstr>Wingdings 3</vt:lpstr>
      <vt:lpstr>Brüggen</vt:lpstr>
      <vt:lpstr>1_Brüggen</vt:lpstr>
      <vt:lpstr>muesli bar with whole milk chocolate and peanuts (fts) REF.: 000004010804</vt:lpstr>
    </vt:vector>
  </TitlesOfParts>
  <Company>Brueggen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Bsp. Überschrift DIN OT BOLD, 55 PT</dc:title>
  <dc:creator>Britta Scholt</dc:creator>
  <cp:lastModifiedBy>Kimberly Giesenberg</cp:lastModifiedBy>
  <cp:revision>261</cp:revision>
  <cp:lastPrinted>2020-09-28T12:29:24Z</cp:lastPrinted>
  <dcterms:created xsi:type="dcterms:W3CDTF">2018-07-17T12:32:27Z</dcterms:created>
  <dcterms:modified xsi:type="dcterms:W3CDTF">2025-06-23T09:38:01Z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0x010100DA9A7D7B01688C40B96393EDFA5A917A</vt:lpwstr>
  </property>
  <property fmtid="{D5CDD505-2E9C-101B-9397-08002B2CF9AE}" pid="3" name="Order">
    <vt:r8>281000</vt:r8>
  </property>
  <property fmtid="{D5CDD505-2E9C-101B-9397-08002B2CF9AE}" pid="4" name="MediaServiceImageTags">
    <vt:lpwstr/>
  </property>
</Properties>
</file>