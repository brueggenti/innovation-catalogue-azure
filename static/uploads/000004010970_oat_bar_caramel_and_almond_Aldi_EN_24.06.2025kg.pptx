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22" r:id="rId5"/>
  </p:sldMasterIdLst>
  <p:notesMasterIdLst>
    <p:notesMasterId r:id="rId7"/>
  </p:notesMasterIdLst>
  <p:handoutMasterIdLst>
    <p:handoutMasterId r:id="rId8"/>
  </p:handoutMasterIdLst>
  <p:sldIdLst>
    <p:sldId id="377" r:id="rId6"/>
  </p:sldIdLst>
  <p:sldSz cx="10799763" cy="7561263"/>
  <p:notesSz cx="6797675" cy="9926638"/>
  <p:defaultTextStyle>
    <a:defPPr>
      <a:defRPr lang="de-DE"/>
    </a:defPPr>
    <a:lvl1pPr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1pPr>
    <a:lvl2pPr marL="520700" indent="-63500"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2pPr>
    <a:lvl3pPr marL="1042988" indent="-128588"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3pPr>
    <a:lvl4pPr marL="1563688" indent="-192088"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4pPr>
    <a:lvl5pPr marL="2085975" indent="-257175" algn="l" defTabSz="1042988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DINOT" pitchFamily="121" charset="0"/>
        <a:ea typeface="Geneva" pitchFamily="121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2F2F2"/>
    <a:srgbClr val="661C31"/>
    <a:srgbClr val="E2BC54"/>
    <a:srgbClr val="D9D9D9"/>
    <a:srgbClr val="004689"/>
    <a:srgbClr val="31679B"/>
    <a:srgbClr val="080808"/>
    <a:srgbClr val="000000"/>
    <a:srgbClr val="005AB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87317A-4A66-480D-88EF-14D1CAB1D9BC}" v="13" dt="2025-06-24T07:34:42.2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43" autoAdjust="0"/>
    <p:restoredTop sz="96433" autoAdjust="0"/>
  </p:normalViewPr>
  <p:slideViewPr>
    <p:cSldViewPr>
      <p:cViewPr varScale="1">
        <p:scale>
          <a:sx n="95" d="100"/>
          <a:sy n="95" d="100"/>
        </p:scale>
        <p:origin x="684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berly Giesenberg" userId="9d2c8af7-3495-4e17-909d-5ee80a83a38c" providerId="ADAL" clId="{6587317A-4A66-480D-88EF-14D1CAB1D9BC}"/>
    <pc:docChg chg="modSld">
      <pc:chgData name="Kimberly Giesenberg" userId="9d2c8af7-3495-4e17-909d-5ee80a83a38c" providerId="ADAL" clId="{6587317A-4A66-480D-88EF-14D1CAB1D9BC}" dt="2025-06-24T07:32:56.858" v="163"/>
      <pc:docMkLst>
        <pc:docMk/>
      </pc:docMkLst>
      <pc:sldChg chg="addSp modSp mod">
        <pc:chgData name="Kimberly Giesenberg" userId="9d2c8af7-3495-4e17-909d-5ee80a83a38c" providerId="ADAL" clId="{6587317A-4A66-480D-88EF-14D1CAB1D9BC}" dt="2025-06-24T07:32:56.858" v="163"/>
        <pc:sldMkLst>
          <pc:docMk/>
          <pc:sldMk cId="1299991375" sldId="377"/>
        </pc:sldMkLst>
        <pc:spChg chg="mod">
          <ac:chgData name="Kimberly Giesenberg" userId="9d2c8af7-3495-4e17-909d-5ee80a83a38c" providerId="ADAL" clId="{6587317A-4A66-480D-88EF-14D1CAB1D9BC}" dt="2025-06-24T07:01:39.301" v="30" actId="6549"/>
          <ac:spMkLst>
            <pc:docMk/>
            <pc:sldMk cId="1299991375" sldId="377"/>
            <ac:spMk id="4" creationId="{00000000-0000-0000-0000-000000000000}"/>
          </ac:spMkLst>
        </pc:spChg>
        <pc:graphicFrameChg chg="modGraphic">
          <ac:chgData name="Kimberly Giesenberg" userId="9d2c8af7-3495-4e17-909d-5ee80a83a38c" providerId="ADAL" clId="{6587317A-4A66-480D-88EF-14D1CAB1D9BC}" dt="2025-06-24T07:13:22.902" v="152" actId="20577"/>
          <ac:graphicFrameMkLst>
            <pc:docMk/>
            <pc:sldMk cId="1299991375" sldId="377"/>
            <ac:graphicFrameMk id="3" creationId="{9C6429FB-CEF1-B76F-577A-F7F4F9678DC3}"/>
          </ac:graphicFrameMkLst>
        </pc:graphicFrameChg>
        <pc:graphicFrameChg chg="mod modGraphic">
          <ac:chgData name="Kimberly Giesenberg" userId="9d2c8af7-3495-4e17-909d-5ee80a83a38c" providerId="ADAL" clId="{6587317A-4A66-480D-88EF-14D1CAB1D9BC}" dt="2025-06-24T07:11:50.318" v="132" actId="20577"/>
          <ac:graphicFrameMkLst>
            <pc:docMk/>
            <pc:sldMk cId="1299991375" sldId="377"/>
            <ac:graphicFrameMk id="5" creationId="{7CD1225E-2159-988B-E19D-96D8C2167C69}"/>
          </ac:graphicFrameMkLst>
        </pc:graphicFrameChg>
        <pc:graphicFrameChg chg="modGraphic">
          <ac:chgData name="Kimberly Giesenberg" userId="9d2c8af7-3495-4e17-909d-5ee80a83a38c" providerId="ADAL" clId="{6587317A-4A66-480D-88EF-14D1CAB1D9BC}" dt="2025-06-24T07:07:54.862" v="96" actId="20577"/>
          <ac:graphicFrameMkLst>
            <pc:docMk/>
            <pc:sldMk cId="1299991375" sldId="377"/>
            <ac:graphicFrameMk id="24" creationId="{DFFF3101-60D1-6AE4-006A-14744CD893FF}"/>
          </ac:graphicFrameMkLst>
        </pc:graphicFrameChg>
        <pc:picChg chg="add mod modCrop">
          <ac:chgData name="Kimberly Giesenberg" userId="9d2c8af7-3495-4e17-909d-5ee80a83a38c" providerId="ADAL" clId="{6587317A-4A66-480D-88EF-14D1CAB1D9BC}" dt="2025-06-24T07:32:56.858" v="163"/>
          <ac:picMkLst>
            <pc:docMk/>
            <pc:sldMk cId="1299991375" sldId="377"/>
            <ac:picMk id="6" creationId="{92D629AF-1385-E60C-7812-B59C30B62A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9C26C81-E798-4A63-9A9C-957060DF48C8}" type="datetimeFigureOut">
              <a:rPr lang="de-DE" altLang="de-DE"/>
              <a:pPr/>
              <a:t>24.06.2025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9B317F6-27DD-46EE-BA9D-493BFC491B28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315478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20E060D-405C-4C89-A8D3-1D82FB89215F}" type="datetimeFigureOut">
              <a:rPr lang="de-DE" altLang="de-DE"/>
              <a:pPr/>
              <a:t>24.06.2025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41363" y="744538"/>
            <a:ext cx="531495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EE4295A-0246-442F-909E-C3AD8774AB0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9221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1pPr>
    <a:lvl2pPr marL="520700"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2pPr>
    <a:lvl3pPr marL="1042988"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3pPr>
    <a:lvl4pPr marL="1563688"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4pPr>
    <a:lvl5pPr marL="2085975" algn="l" defTabSz="1042988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Geneva" pitchFamily="121" charset="-128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41363" y="744538"/>
            <a:ext cx="5314950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E4295A-0246-442F-909E-C3AD8774AB01}" type="slidenum">
              <a:rPr kumimoji="0" lang="de-DE" alt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4689"/>
                </a:solidFill>
                <a:effectLst/>
                <a:uLnTx/>
                <a:uFillTx/>
                <a:latin typeface="DINOT" pitchFamily="121" charset="0"/>
                <a:ea typeface="Geneva" pitchFamily="121" charset="-128"/>
                <a:cs typeface="+mn-cs"/>
              </a:rPr>
              <a:pPr marL="0" marR="0" lvl="0" indent="0" algn="r" defTabSz="10429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altLang="de-DE" sz="1200" b="0" i="0" u="none" strike="noStrike" kern="1200" cap="none" spc="0" normalizeH="0" baseline="0" noProof="0">
              <a:ln>
                <a:noFill/>
              </a:ln>
              <a:solidFill>
                <a:srgbClr val="004689"/>
              </a:solidFill>
              <a:effectLst/>
              <a:uLnTx/>
              <a:uFillTx/>
              <a:latin typeface="DINOT" pitchFamily="121" charset="0"/>
              <a:ea typeface="Geneva" pitchFamily="12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5220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7"/>
          </p:nvPr>
        </p:nvSpPr>
        <p:spPr>
          <a:xfrm>
            <a:off x="107694" y="1115219"/>
            <a:ext cx="1962427" cy="53292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5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07694" y="252240"/>
            <a:ext cx="9090529" cy="47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de-DE" dirty="0"/>
              <a:t>Titel durch Klicken hinzufügen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8"/>
          </p:nvPr>
        </p:nvSpPr>
        <p:spPr>
          <a:xfrm>
            <a:off x="6636019" y="1547814"/>
            <a:ext cx="3854310" cy="22320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668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7"/>
          </p:nvPr>
        </p:nvSpPr>
        <p:spPr>
          <a:xfrm>
            <a:off x="107694" y="1115219"/>
            <a:ext cx="1962427" cy="53292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5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07694" y="252240"/>
            <a:ext cx="9090529" cy="47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de-DE" dirty="0"/>
              <a:t>Titel durch Klicken hinzufügen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8"/>
          </p:nvPr>
        </p:nvSpPr>
        <p:spPr>
          <a:xfrm>
            <a:off x="6636019" y="1547814"/>
            <a:ext cx="3854310" cy="22320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6519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8E8D183C-9C2E-1E1F-E072-A3885BE6DE67}"/>
              </a:ext>
            </a:extLst>
          </p:cNvPr>
          <p:cNvSpPr/>
          <p:nvPr userDrawn="1"/>
        </p:nvSpPr>
        <p:spPr>
          <a:xfrm>
            <a:off x="-1" y="7020991"/>
            <a:ext cx="10799763" cy="540272"/>
          </a:xfrm>
          <a:prstGeom prst="rect">
            <a:avLst/>
          </a:prstGeom>
          <a:solidFill>
            <a:srgbClr val="66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3" name="Rechteck 2"/>
          <p:cNvSpPr/>
          <p:nvPr userDrawn="1"/>
        </p:nvSpPr>
        <p:spPr>
          <a:xfrm>
            <a:off x="705" y="-35793"/>
            <a:ext cx="10799763" cy="792087"/>
          </a:xfrm>
          <a:prstGeom prst="rect">
            <a:avLst/>
          </a:prstGeom>
          <a:solidFill>
            <a:srgbClr val="66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16" name="Textfeld 15"/>
          <p:cNvSpPr txBox="1"/>
          <p:nvPr userDrawn="1"/>
        </p:nvSpPr>
        <p:spPr>
          <a:xfrm>
            <a:off x="1581857" y="7144933"/>
            <a:ext cx="7636045" cy="2923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DINOT" panose="020B0504020101020102" pitchFamily="34" charset="0"/>
                <a:ea typeface="+mn-ea"/>
              </a:rPr>
              <a:t>The purpose of this product information is to describe a sample produced in the laboratory. Nutritional values are calculated. Due to minor variations that may occur during manufacturing under production conditions, this product information is of a preliminary nature. For declaration purposes, please request a full product specification.</a:t>
            </a:r>
            <a:endParaRPr kumimoji="0" lang="de-DE" sz="65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DINOT" panose="020B0504020101020102" pitchFamily="34" charset="0"/>
              <a:ea typeface="+mn-ea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63737" y="87734"/>
            <a:ext cx="9090529" cy="47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 durch Klicken hinzufügen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D6CFA86-0554-9950-94E6-97BEFA1888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802" y="12342"/>
            <a:ext cx="1442961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l" defTabSz="1043005" rtl="0" eaLnBrk="1" fontAlgn="base" hangingPunct="1">
        <a:spcBef>
          <a:spcPct val="0"/>
        </a:spcBef>
        <a:spcAft>
          <a:spcPct val="0"/>
        </a:spcAft>
        <a:defRPr sz="2801" kern="1200" cap="all" baseline="0">
          <a:solidFill>
            <a:schemeClr val="bg1"/>
          </a:solidFill>
          <a:latin typeface="Franklin Gothic Demi" panose="020B0703020102020204" pitchFamily="34" charset="0"/>
          <a:ea typeface="Geneva" pitchFamily="121" charset="-128"/>
          <a:cs typeface="+mj-cs"/>
        </a:defRPr>
      </a:lvl1pPr>
      <a:lvl2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2pPr>
      <a:lvl3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3pPr>
      <a:lvl4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4pPr>
      <a:lvl5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5pPr>
      <a:lvl6pPr marL="457207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6pPr>
      <a:lvl7pPr marL="914415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7pPr>
      <a:lvl8pPr marL="1371622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8pPr>
      <a:lvl9pPr marL="1828830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9pPr>
    </p:titleStyle>
    <p:bodyStyle>
      <a:lvl1pPr marL="0" indent="0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Clr>
          <a:schemeClr val="accent2"/>
        </a:buClr>
        <a:buFont typeface="Wingdings 3" panose="05040102010807070707" pitchFamily="18" charset="2"/>
        <a:buNone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1pPr>
      <a:lvl2pPr marL="539758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2pPr>
      <a:lvl3pPr marL="717561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3pPr>
      <a:lvl4pPr marL="895364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4pPr>
      <a:lvl5pPr marL="1079518" indent="-18415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5pPr>
      <a:lvl6pPr marL="2868450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87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523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3060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36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73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609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46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82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219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755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92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46336103-EADF-9E1C-9950-1DD13D2BAED5}"/>
              </a:ext>
            </a:extLst>
          </p:cNvPr>
          <p:cNvSpPr/>
          <p:nvPr userDrawn="1"/>
        </p:nvSpPr>
        <p:spPr>
          <a:xfrm>
            <a:off x="5876" y="7020991"/>
            <a:ext cx="10799763" cy="540272"/>
          </a:xfrm>
          <a:prstGeom prst="rect">
            <a:avLst/>
          </a:prstGeom>
          <a:solidFill>
            <a:srgbClr val="E2BC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3" name="Rechteck 2"/>
          <p:cNvSpPr/>
          <p:nvPr userDrawn="1"/>
        </p:nvSpPr>
        <p:spPr>
          <a:xfrm>
            <a:off x="-1" y="0"/>
            <a:ext cx="10799763" cy="828092"/>
          </a:xfrm>
          <a:prstGeom prst="rect">
            <a:avLst/>
          </a:prstGeom>
          <a:solidFill>
            <a:srgbClr val="E2BC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 err="1">
              <a:solidFill>
                <a:schemeClr val="tx1"/>
              </a:solidFill>
            </a:endParaRPr>
          </a:p>
        </p:txBody>
      </p:sp>
      <p:sp>
        <p:nvSpPr>
          <p:cNvPr id="16" name="Textfeld 15"/>
          <p:cNvSpPr txBox="1"/>
          <p:nvPr userDrawn="1"/>
        </p:nvSpPr>
        <p:spPr>
          <a:xfrm>
            <a:off x="1581857" y="7181141"/>
            <a:ext cx="7636045" cy="292388"/>
          </a:xfrm>
          <a:prstGeom prst="rect">
            <a:avLst/>
          </a:prstGeom>
          <a:noFill/>
          <a:ln>
            <a:solidFill>
              <a:srgbClr val="661C31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0" cap="none" spc="0" normalizeH="0" baseline="0" noProof="0" dirty="0">
                <a:ln>
                  <a:noFill/>
                </a:ln>
                <a:solidFill>
                  <a:srgbClr val="661C31"/>
                </a:solidFill>
                <a:effectLst/>
                <a:uLnTx/>
                <a:uFillTx/>
                <a:latin typeface="DINOT" panose="020B0504020101020102" pitchFamily="34" charset="0"/>
                <a:ea typeface="+mn-ea"/>
              </a:rPr>
              <a:t>The purpose of this product information is to describe a sample produced in the laboratory. Nutritional values are calculated. Due to minor variations that may occur during manufacturing under production conditions, this product information is of a preliminary nature. For declaration purposes, please request a full product specification.</a:t>
            </a:r>
            <a:endParaRPr kumimoji="0" lang="de-DE" sz="650" b="0" i="0" u="none" strike="noStrike" kern="0" cap="none" spc="0" normalizeH="0" baseline="0" noProof="0" dirty="0">
              <a:ln>
                <a:noFill/>
              </a:ln>
              <a:solidFill>
                <a:srgbClr val="661C31"/>
              </a:solidFill>
              <a:effectLst/>
              <a:uLnTx/>
              <a:uFillTx/>
              <a:latin typeface="DINOT" panose="020B0504020101020102" pitchFamily="34" charset="0"/>
              <a:ea typeface="+mn-ea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63737" y="87734"/>
            <a:ext cx="9090529" cy="47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 durch Klicken hinzufügen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D6CFA86-0554-9950-94E6-97BEFA1888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802" y="12342"/>
            <a:ext cx="1442961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2700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hf hdr="0" ftr="0" dt="0"/>
  <p:txStyles>
    <p:titleStyle>
      <a:lvl1pPr algn="l" defTabSz="1043005" rtl="0" eaLnBrk="1" fontAlgn="base" hangingPunct="1">
        <a:spcBef>
          <a:spcPct val="0"/>
        </a:spcBef>
        <a:spcAft>
          <a:spcPct val="0"/>
        </a:spcAft>
        <a:defRPr sz="2801" kern="1200" cap="all" baseline="0">
          <a:solidFill>
            <a:srgbClr val="661C31"/>
          </a:solidFill>
          <a:latin typeface="Franklin Gothic Demi" panose="020B0703020102020204" pitchFamily="34" charset="0"/>
          <a:ea typeface="Geneva" pitchFamily="121" charset="-128"/>
          <a:cs typeface="+mj-cs"/>
        </a:defRPr>
      </a:lvl1pPr>
      <a:lvl2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2pPr>
      <a:lvl3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3pPr>
      <a:lvl4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4pPr>
      <a:lvl5pPr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5pPr>
      <a:lvl6pPr marL="457207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6pPr>
      <a:lvl7pPr marL="914415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7pPr>
      <a:lvl8pPr marL="1371622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8pPr>
      <a:lvl9pPr marL="1828830" algn="l" defTabSz="1043005" rtl="0" eaLnBrk="1" fontAlgn="base" hangingPunct="1">
        <a:spcBef>
          <a:spcPct val="0"/>
        </a:spcBef>
        <a:spcAft>
          <a:spcPct val="0"/>
        </a:spcAft>
        <a:defRPr sz="2801">
          <a:solidFill>
            <a:schemeClr val="tx1"/>
          </a:solidFill>
          <a:latin typeface="DINOT-Bold" pitchFamily="121" charset="0"/>
          <a:ea typeface="Geneva" pitchFamily="121" charset="-128"/>
        </a:defRPr>
      </a:lvl9pPr>
    </p:titleStyle>
    <p:bodyStyle>
      <a:lvl1pPr marL="0" indent="0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Clr>
          <a:schemeClr val="accent2"/>
        </a:buClr>
        <a:buFont typeface="Wingdings 3" panose="05040102010807070707" pitchFamily="18" charset="2"/>
        <a:buNone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1pPr>
      <a:lvl2pPr marL="539758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2pPr>
      <a:lvl3pPr marL="717561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3pPr>
      <a:lvl4pPr marL="895364" indent="-17780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4pPr>
      <a:lvl5pPr marL="1079518" indent="-184153" algn="l" defTabSz="1043005" rtl="0" eaLnBrk="1" fontAlgn="base" hangingPunct="1">
        <a:lnSpc>
          <a:spcPct val="95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Geneva" pitchFamily="121" charset="-128"/>
          <a:cs typeface="+mn-cs"/>
        </a:defRPr>
      </a:lvl5pPr>
      <a:lvl6pPr marL="2868450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87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523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3060" indent="-260768" algn="l" defTabSz="10430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36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73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609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46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82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219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755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92" algn="l" defTabSz="1043073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3181" y="-11021"/>
            <a:ext cx="9865096" cy="760081"/>
          </a:xfrm>
        </p:spPr>
        <p:txBody>
          <a:bodyPr>
            <a:noAutofit/>
          </a:bodyPr>
          <a:lstStyle/>
          <a:p>
            <a:r>
              <a:rPr lang="de-DE" sz="1800" dirty="0" err="1"/>
              <a:t>oat</a:t>
            </a:r>
            <a:r>
              <a:rPr lang="de-DE" sz="1800" dirty="0"/>
              <a:t> bar </a:t>
            </a:r>
            <a:r>
              <a:rPr lang="de-DE" sz="1800" dirty="0" err="1"/>
              <a:t>with</a:t>
            </a:r>
            <a:r>
              <a:rPr lang="de-DE" sz="1800" dirty="0"/>
              <a:t> </a:t>
            </a:r>
            <a:r>
              <a:rPr lang="de-DE" sz="1800" dirty="0" err="1"/>
              <a:t>almond</a:t>
            </a:r>
            <a:r>
              <a:rPr lang="de-DE" sz="1800" dirty="0"/>
              <a:t> and </a:t>
            </a:r>
            <a:r>
              <a:rPr lang="de-DE" sz="1800" dirty="0" err="1"/>
              <a:t>caramel</a:t>
            </a:r>
            <a:br>
              <a:rPr lang="de-DE" sz="1800" dirty="0"/>
            </a:br>
            <a:r>
              <a:rPr lang="de-DE" sz="1800" dirty="0"/>
              <a:t>REF.: 000004010970</a:t>
            </a:r>
            <a:endParaRPr lang="de-DE" sz="1800" dirty="0">
              <a:latin typeface="DINOT-Bold" panose="020B0804020101020102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246CA7D5-3C48-989F-D291-CEEB186B2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097497"/>
              </p:ext>
            </p:extLst>
          </p:nvPr>
        </p:nvGraphicFramePr>
        <p:xfrm>
          <a:off x="6517862" y="5480387"/>
          <a:ext cx="3960440" cy="502116"/>
        </p:xfrm>
        <a:graphic>
          <a:graphicData uri="http://schemas.openxmlformats.org/drawingml/2006/table">
            <a:tbl>
              <a:tblPr firstRow="1" bandRow="1"/>
              <a:tblGrid>
                <a:gridCol w="396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9404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Claims :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516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9pPr>
                    </a:lstStyle>
                    <a:p>
                      <a:pPr marL="171450" marR="0" lvl="0" indent="-17145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source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fibre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" name="Grafik 18">
            <a:extLst>
              <a:ext uri="{FF2B5EF4-FFF2-40B4-BE49-F238E27FC236}">
                <a16:creationId xmlns:a16="http://schemas.microsoft.com/office/drawing/2014/main" id="{4674B748-899F-F2C8-EE69-C25304821B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15" r="4878"/>
          <a:stretch/>
        </p:blipFill>
        <p:spPr>
          <a:xfrm>
            <a:off x="0" y="889068"/>
            <a:ext cx="1984345" cy="6066835"/>
          </a:xfrm>
          <a:prstGeom prst="rect">
            <a:avLst/>
          </a:prstGeom>
          <a:ln>
            <a:noFill/>
          </a:ln>
          <a:effectLst>
            <a:softEdge rad="165100"/>
          </a:effectLst>
        </p:spPr>
      </p:pic>
      <p:graphicFrame>
        <p:nvGraphicFramePr>
          <p:cNvPr id="22" name="Tabelle 21">
            <a:extLst>
              <a:ext uri="{FF2B5EF4-FFF2-40B4-BE49-F238E27FC236}">
                <a16:creationId xmlns:a16="http://schemas.microsoft.com/office/drawing/2014/main" id="{5408E5B8-BA28-B652-0F9A-226FF37A5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809872"/>
              </p:ext>
            </p:extLst>
          </p:nvPr>
        </p:nvGraphicFramePr>
        <p:xfrm>
          <a:off x="2128091" y="5888643"/>
          <a:ext cx="3960438" cy="656280"/>
        </p:xfrm>
        <a:graphic>
          <a:graphicData uri="http://schemas.openxmlformats.org/drawingml/2006/table">
            <a:tbl>
              <a:tblPr firstRow="1" bandRow="1"/>
              <a:tblGrid>
                <a:gridCol w="3960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800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Allergen </a:t>
                      </a: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information</a:t>
                      </a: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: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637370"/>
                  </a:ext>
                </a:extLst>
              </a:tr>
              <a:tr h="332059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Contains allergens according to the list of ingredients. </a:t>
                      </a:r>
                      <a:r>
                        <a:rPr lang="en-US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Manufactured in a facility </a:t>
                      </a:r>
                      <a:r>
                        <a:rPr lang="en-GB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where the following allergens are present</a:t>
                      </a:r>
                      <a:r>
                        <a:rPr lang="en-US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: cereals containing gluten, peanuts, sesame, nuts, milk and soya products, mustard, lupin.</a:t>
                      </a:r>
                      <a:endParaRPr lang="de-DE" sz="7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elle 23">
            <a:extLst>
              <a:ext uri="{FF2B5EF4-FFF2-40B4-BE49-F238E27FC236}">
                <a16:creationId xmlns:a16="http://schemas.microsoft.com/office/drawing/2014/main" id="{DFFF3101-60D1-6AE4-006A-14744CD89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00911"/>
              </p:ext>
            </p:extLst>
          </p:nvPr>
        </p:nvGraphicFramePr>
        <p:xfrm>
          <a:off x="2128091" y="3849728"/>
          <a:ext cx="3960438" cy="1874226"/>
        </p:xfrm>
        <a:graphic>
          <a:graphicData uri="http://schemas.openxmlformats.org/drawingml/2006/table">
            <a:tbl>
              <a:tblPr firstRow="1" bandRow="1"/>
              <a:tblGrid>
                <a:gridCol w="161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463">
                  <a:extLst>
                    <a:ext uri="{9D8B030D-6E8A-4147-A177-3AD203B41FA5}">
                      <a16:colId xmlns:a16="http://schemas.microsoft.com/office/drawing/2014/main" val="1098706546"/>
                    </a:ext>
                  </a:extLst>
                </a:gridCol>
              </a:tblGrid>
              <a:tr h="2304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Nutrition </a:t>
                      </a: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information</a:t>
                      </a:r>
                      <a:endParaRPr lang="de-DE" sz="900" b="1" kern="12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per 100g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per bar (35g)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kJ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calories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1638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389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573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136</a:t>
                      </a:r>
                    </a:p>
                  </a:txBody>
                  <a:tcPr marL="68580" marR="68580" marT="0" marB="0" anchor="ctr" anchorCtr="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Fat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    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which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saturates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10,7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4,3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3,7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68580" marR="68580" marT="0" marB="0" anchor="ctr" anchorCtr="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Carbohydrates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    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which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total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sugars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62,5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23,4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21,9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8,2</a:t>
                      </a:r>
                    </a:p>
                  </a:txBody>
                  <a:tcPr marL="68580" marR="68580" marT="0" marB="0" anchor="ctr" anchorCtr="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1043073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Fibre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5,5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1,9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1043073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Protein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8,1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1043073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Salt (g)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0,32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52153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1043073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56460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2086146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60768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3129219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650755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4172292" algn="l" defTabSz="1043073" rtl="0" eaLnBrk="1" latinLnBrk="0" hangingPunct="1">
                        <a:defRPr sz="21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0,11</a:t>
                      </a:r>
                    </a:p>
                  </a:txBody>
                  <a:tcPr marL="68580" marR="68580" marT="0" marB="0" anchor="ctr" anchorCtr="1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5" name="Tabelle 24">
            <a:extLst>
              <a:ext uri="{FF2B5EF4-FFF2-40B4-BE49-F238E27FC236}">
                <a16:creationId xmlns:a16="http://schemas.microsoft.com/office/drawing/2014/main" id="{B16CA258-373B-7D2B-1B98-55C1569AD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737146"/>
              </p:ext>
            </p:extLst>
          </p:nvPr>
        </p:nvGraphicFramePr>
        <p:xfrm>
          <a:off x="6517862" y="6229433"/>
          <a:ext cx="3960438" cy="442920"/>
        </p:xfrm>
        <a:graphic>
          <a:graphicData uri="http://schemas.openxmlformats.org/drawingml/2006/table">
            <a:tbl>
              <a:tblPr firstRow="1" bandRow="1"/>
              <a:tblGrid>
                <a:gridCol w="3960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800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Storage </a:t>
                      </a: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conditions</a:t>
                      </a: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: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228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12 </a:t>
                      </a:r>
                      <a:r>
                        <a:rPr lang="en-US" sz="7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months in original package at temperatures below 20 °C and less than 60 % relative air humidity</a:t>
                      </a:r>
                      <a:endParaRPr lang="de-DE" sz="7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9C6429FB-CEF1-B76F-577A-F7F4F9678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419309"/>
              </p:ext>
            </p:extLst>
          </p:nvPr>
        </p:nvGraphicFramePr>
        <p:xfrm>
          <a:off x="6517862" y="4448658"/>
          <a:ext cx="3960440" cy="784800"/>
        </p:xfrm>
        <a:graphic>
          <a:graphicData uri="http://schemas.openxmlformats.org/drawingml/2006/table">
            <a:tbl>
              <a:tblPr firstRow="1" bandRow="1"/>
              <a:tblGrid>
                <a:gridCol w="396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4800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b="1" kern="1200">
                          <a:solidFill>
                            <a:schemeClr val="lt1"/>
                          </a:solidFill>
                          <a:latin typeface="DINOT"/>
                        </a:defRPr>
                      </a:lvl9pPr>
                    </a:lstStyle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Description </a:t>
                      </a: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of</a:t>
                      </a: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product</a:t>
                      </a: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: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>
                      <a:lvl1pPr marL="0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1pPr>
                      <a:lvl2pPr marL="504063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2pPr>
                      <a:lvl3pPr marL="1008126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3pPr>
                      <a:lvl4pPr marL="1512189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4pPr>
                      <a:lvl5pPr marL="2016252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5pPr>
                      <a:lvl6pPr marL="2520315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6pPr>
                      <a:lvl7pPr marL="3024378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7pPr>
                      <a:lvl8pPr marL="3528441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8pPr>
                      <a:lvl9pPr marL="4032504" algn="l" defTabSz="1008126" rtl="0" eaLnBrk="1" latinLnBrk="0" hangingPunct="1">
                        <a:defRPr sz="1985" kern="1200">
                          <a:solidFill>
                            <a:schemeClr val="dk1"/>
                          </a:solidFill>
                          <a:latin typeface="DINOT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This bar is a mixture whole grain oat flakes, caramel paste and other ingredients. After homogenisation and forming the ingredient mass is cut into portions. </a:t>
                      </a:r>
                      <a:endParaRPr lang="de-DE" sz="800" kern="1200" noProof="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CD1225E-2159-988B-E19D-96D8C2167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467030"/>
              </p:ext>
            </p:extLst>
          </p:nvPr>
        </p:nvGraphicFramePr>
        <p:xfrm>
          <a:off x="2128091" y="972319"/>
          <a:ext cx="39604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0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345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Ingredients</a:t>
                      </a:r>
                      <a:endParaRPr lang="de-DE" sz="900" b="1" kern="12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661C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1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In</a:t>
                      </a:r>
                      <a:r>
                        <a:rPr lang="de-DE" sz="1000" kern="12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%</a:t>
                      </a:r>
                    </a:p>
                  </a:txBody>
                  <a:tcPr>
                    <a:solidFill>
                      <a:srgbClr val="66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504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whole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grain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OAT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flakes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i="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48,1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glucose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-fructose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syrup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i="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20,9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502577"/>
                  </a:ext>
                </a:extLst>
              </a:tr>
              <a:tr h="131656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glucose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syrup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i="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15,2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Caramel paste with salted butter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glucose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syrup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,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sugar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,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sweetened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condensed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milk (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whole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MILK,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sugar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),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water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,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salted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BUTTER, CREAM,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salt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,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thickener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: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pectins</a:t>
                      </a:r>
                      <a:endParaRPr lang="de-DE" sz="8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i="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5,9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054">
                <a:tc>
                  <a:txBody>
                    <a:bodyPr/>
                    <a:lstStyle/>
                    <a:p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chopped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, </a:t>
                      </a:r>
                      <a:r>
                        <a:rPr lang="de-DE" sz="8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blanched</a:t>
                      </a:r>
                      <a:r>
                        <a:rPr lang="de-DE" sz="8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</a:rPr>
                        <a:t> ALMONDS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73" rtl="0" eaLnBrk="1" latinLnBrk="0" hangingPunct="1"/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5,0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29857"/>
                  </a:ext>
                </a:extLst>
              </a:tr>
              <a:tr h="198054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coconut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fat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800" kern="1200" noProof="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73" rtl="0" eaLnBrk="1" latinLnBrk="0" hangingPunct="1"/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3,3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678212"/>
                  </a:ext>
                </a:extLst>
              </a:tr>
              <a:tr h="198054"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emulsifier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: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lecithins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800" kern="1200" noProof="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73" rtl="0" eaLnBrk="1" latinLnBrk="0" hangingPunct="1"/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197526"/>
                  </a:ext>
                </a:extLst>
              </a:tr>
              <a:tr h="211987">
                <a:tc>
                  <a:txBody>
                    <a:bodyPr/>
                    <a:lstStyle/>
                    <a:p>
                      <a:pPr marL="0" algn="l" defTabSz="1043073" rtl="0" eaLnBrk="1" latinLnBrk="0" hangingPunct="1"/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natural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flavouring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800" kern="1200" noProof="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73" rtl="0" eaLnBrk="1" latinLnBrk="0" hangingPunct="1"/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8828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1043073" rtl="0" eaLnBrk="1" latinLnBrk="0" hangingPunct="1"/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caramelised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sugar</a:t>
                      </a:r>
                      <a:r>
                        <a:rPr lang="de-DE" sz="800" kern="1200" dirty="0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syrup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800" kern="1200" noProof="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73" rtl="0" eaLnBrk="1" latinLnBrk="0" hangingPunct="1"/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52041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defTabSz="1043073" rtl="0" eaLnBrk="1" latinLnBrk="0" hangingPunct="1"/>
                      <a:r>
                        <a:rPr lang="de-DE" sz="800" kern="1200" dirty="0" err="1">
                          <a:solidFill>
                            <a:srgbClr val="661C31"/>
                          </a:solidFill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salt</a:t>
                      </a:r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43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800" kern="1200" noProof="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43073" rtl="0" eaLnBrk="1" latinLnBrk="0" hangingPunct="1"/>
                      <a:endParaRPr lang="de-DE" sz="800" kern="1200" dirty="0">
                        <a:solidFill>
                          <a:srgbClr val="661C31"/>
                        </a:solidFill>
                        <a:latin typeface="Franklin Gothic Book" panose="020B0503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975391"/>
                  </a:ext>
                </a:extLst>
              </a:tr>
            </a:tbl>
          </a:graphicData>
        </a:graphic>
      </p:graphicFrame>
      <p:pic>
        <p:nvPicPr>
          <p:cNvPr id="9" name="Grafik 8" descr="Ein Bild, das Logo, Grafiken, Schrift, Screenshot enthält.&#10;&#10;KI-generierte Inhalte können fehlerhaft sein.">
            <a:extLst>
              <a:ext uri="{FF2B5EF4-FFF2-40B4-BE49-F238E27FC236}">
                <a16:creationId xmlns:a16="http://schemas.microsoft.com/office/drawing/2014/main" id="{F2DA2886-CD16-6963-48EC-368529061A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6427" y="3849729"/>
            <a:ext cx="891873" cy="482726"/>
          </a:xfrm>
          <a:prstGeom prst="rect">
            <a:avLst/>
          </a:prstGeom>
        </p:spPr>
      </p:pic>
      <p:pic>
        <p:nvPicPr>
          <p:cNvPr id="6" name="Grafik 5" descr="Ein Bild, das Wand, Im Haus, Heu enthält.&#10;&#10;KI-generierte Inhalte können fehlerhaft sein.">
            <a:extLst>
              <a:ext uri="{FF2B5EF4-FFF2-40B4-BE49-F238E27FC236}">
                <a16:creationId xmlns:a16="http://schemas.microsoft.com/office/drawing/2014/main" id="{92D629AF-1385-E60C-7812-B59C30B62A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7354553" y="479052"/>
            <a:ext cx="2287054" cy="39604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99991375"/>
      </p:ext>
    </p:extLst>
  </p:cSld>
  <p:clrMapOvr>
    <a:masterClrMapping/>
  </p:clrMapOvr>
</p:sld>
</file>

<file path=ppt/theme/theme1.xml><?xml version="1.0" encoding="utf-8"?>
<a:theme xmlns:a="http://schemas.openxmlformats.org/drawingml/2006/main" name="Brüggen">
  <a:themeElements>
    <a:clrScheme name="Brueggen">
      <a:dk1>
        <a:srgbClr val="004689"/>
      </a:dk1>
      <a:lt1>
        <a:sysClr val="window" lastClr="FFFFFF"/>
      </a:lt1>
      <a:dk2>
        <a:srgbClr val="7F7F7F"/>
      </a:dk2>
      <a:lt2>
        <a:srgbClr val="D8D8D8"/>
      </a:lt2>
      <a:accent1>
        <a:srgbClr val="004689"/>
      </a:accent1>
      <a:accent2>
        <a:srgbClr val="E2001A"/>
      </a:accent2>
      <a:accent3>
        <a:srgbClr val="1EA7CF"/>
      </a:accent3>
      <a:accent4>
        <a:srgbClr val="5CC5ED"/>
      </a:accent4>
      <a:accent5>
        <a:srgbClr val="B5E1F5"/>
      </a:accent5>
      <a:accent6>
        <a:srgbClr val="E2007A"/>
      </a:accent6>
      <a:hlink>
        <a:srgbClr val="004689"/>
      </a:hlink>
      <a:folHlink>
        <a:srgbClr val="004689"/>
      </a:folHlink>
    </a:clrScheme>
    <a:fontScheme name="Brueggen">
      <a:majorFont>
        <a:latin typeface="DINOT-Bold"/>
        <a:ea typeface=""/>
        <a:cs typeface=""/>
      </a:majorFont>
      <a:minorFont>
        <a:latin typeface="DIN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sz="18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6A9D7987-835E-4584-B2C1-723FD82111F0}" vid="{142AE5CB-4B94-4A1C-A5DF-EDC9BAC7385D}"/>
    </a:ext>
  </a:extLst>
</a:theme>
</file>

<file path=ppt/theme/theme2.xml><?xml version="1.0" encoding="utf-8"?>
<a:theme xmlns:a="http://schemas.openxmlformats.org/drawingml/2006/main" name="1_Brüggen">
  <a:themeElements>
    <a:clrScheme name="Brueggen">
      <a:dk1>
        <a:srgbClr val="004689"/>
      </a:dk1>
      <a:lt1>
        <a:sysClr val="window" lastClr="FFFFFF"/>
      </a:lt1>
      <a:dk2>
        <a:srgbClr val="7F7F7F"/>
      </a:dk2>
      <a:lt2>
        <a:srgbClr val="D8D8D8"/>
      </a:lt2>
      <a:accent1>
        <a:srgbClr val="004689"/>
      </a:accent1>
      <a:accent2>
        <a:srgbClr val="E2001A"/>
      </a:accent2>
      <a:accent3>
        <a:srgbClr val="1EA7CF"/>
      </a:accent3>
      <a:accent4>
        <a:srgbClr val="5CC5ED"/>
      </a:accent4>
      <a:accent5>
        <a:srgbClr val="B5E1F5"/>
      </a:accent5>
      <a:accent6>
        <a:srgbClr val="E2007A"/>
      </a:accent6>
      <a:hlink>
        <a:srgbClr val="004689"/>
      </a:hlink>
      <a:folHlink>
        <a:srgbClr val="004689"/>
      </a:folHlink>
    </a:clrScheme>
    <a:fontScheme name="Brueggen">
      <a:majorFont>
        <a:latin typeface="DINOT-Bold"/>
        <a:ea typeface=""/>
        <a:cs typeface=""/>
      </a:majorFont>
      <a:minorFont>
        <a:latin typeface="DIN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sz="18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6A9D7987-835E-4584-B2C1-723FD82111F0}" vid="{142AE5CB-4B94-4A1C-A5DF-EDC9BAC7385D}"/>
    </a:ext>
  </a:extLst>
</a:theme>
</file>

<file path=ppt/theme/theme3.xml><?xml version="1.0" encoding="utf-8"?>
<a:theme xmlns:a="http://schemas.openxmlformats.org/drawingml/2006/main" name="Larissa">
  <a:themeElements>
    <a:clrScheme name="Brueggen">
      <a:dk1>
        <a:srgbClr val="004689"/>
      </a:dk1>
      <a:lt1>
        <a:sysClr val="window" lastClr="FFFFFF"/>
      </a:lt1>
      <a:dk2>
        <a:srgbClr val="7F7F7F"/>
      </a:dk2>
      <a:lt2>
        <a:srgbClr val="D8D8D8"/>
      </a:lt2>
      <a:accent1>
        <a:srgbClr val="004689"/>
      </a:accent1>
      <a:accent2>
        <a:srgbClr val="E2001A"/>
      </a:accent2>
      <a:accent3>
        <a:srgbClr val="1EA7CF"/>
      </a:accent3>
      <a:accent4>
        <a:srgbClr val="5CC5ED"/>
      </a:accent4>
      <a:accent5>
        <a:srgbClr val="B5E1F5"/>
      </a:accent5>
      <a:accent6>
        <a:srgbClr val="E2007A"/>
      </a:accent6>
      <a:hlink>
        <a:srgbClr val="004689"/>
      </a:hlink>
      <a:folHlink>
        <a:srgbClr val="004689"/>
      </a:folHlink>
    </a:clrScheme>
    <a:fontScheme name="Brueggen">
      <a:majorFont>
        <a:latin typeface="DINOT-Bold"/>
        <a:ea typeface=""/>
        <a:cs typeface=""/>
      </a:majorFont>
      <a:minorFont>
        <a:latin typeface="DIN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Brueggen">
      <a:dk1>
        <a:srgbClr val="004689"/>
      </a:dk1>
      <a:lt1>
        <a:sysClr val="window" lastClr="FFFFFF"/>
      </a:lt1>
      <a:dk2>
        <a:srgbClr val="7F7F7F"/>
      </a:dk2>
      <a:lt2>
        <a:srgbClr val="D8D8D8"/>
      </a:lt2>
      <a:accent1>
        <a:srgbClr val="004689"/>
      </a:accent1>
      <a:accent2>
        <a:srgbClr val="E2001A"/>
      </a:accent2>
      <a:accent3>
        <a:srgbClr val="1EA7CF"/>
      </a:accent3>
      <a:accent4>
        <a:srgbClr val="5CC5ED"/>
      </a:accent4>
      <a:accent5>
        <a:srgbClr val="B5E1F5"/>
      </a:accent5>
      <a:accent6>
        <a:srgbClr val="E2007A"/>
      </a:accent6>
      <a:hlink>
        <a:srgbClr val="004689"/>
      </a:hlink>
      <a:folHlink>
        <a:srgbClr val="004689"/>
      </a:folHlink>
    </a:clrScheme>
    <a:fontScheme name="Brueggen">
      <a:majorFont>
        <a:latin typeface="DINOT-Bold"/>
        <a:ea typeface=""/>
        <a:cs typeface=""/>
      </a:majorFont>
      <a:minorFont>
        <a:latin typeface="DIN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a8b93ac7-3440-4a5d-bfba-14b9df8d60ab" xsi:nil="true"/>
    <lcf76f155ced4ddcb4097134ff3c332f xmlns="a8b93ac7-3440-4a5d-bfba-14b9df8d60ab">
      <Terms xmlns="http://schemas.microsoft.com/office/infopath/2007/PartnerControls"/>
    </lcf76f155ced4ddcb4097134ff3c332f>
    <TaxCatchAll xmlns="a1898e6c-7304-4b58-94ac-ae166c4266fd" xsi:nil="true"/>
    <Myname xmlns="a8b93ac7-3440-4a5d-bfba-14b9df8d60a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9A7D7B01688C40B96393EDFA5A917A" ma:contentTypeVersion="20" ma:contentTypeDescription="Crée un document." ma:contentTypeScope="" ma:versionID="44ae639bdaeeee28cb4667f09191d212">
  <xsd:schema xmlns:xsd="http://www.w3.org/2001/XMLSchema" xmlns:xs="http://www.w3.org/2001/XMLSchema" xmlns:p="http://schemas.microsoft.com/office/2006/metadata/properties" xmlns:ns2="a8b93ac7-3440-4a5d-bfba-14b9df8d60ab" xmlns:ns3="217ef9f1-9118-4ece-8043-580f6c18e255" xmlns:ns4="a1898e6c-7304-4b58-94ac-ae166c4266fd" targetNamespace="http://schemas.microsoft.com/office/2006/metadata/properties" ma:root="true" ma:fieldsID="8a37c25e8f1ebd0472fd7616cf0845f4" ns2:_="" ns3:_="" ns4:_="">
    <xsd:import namespace="a8b93ac7-3440-4a5d-bfba-14b9df8d60ab"/>
    <xsd:import namespace="217ef9f1-9118-4ece-8043-580f6c18e255"/>
    <xsd:import namespace="a1898e6c-7304-4b58-94ac-ae166c4266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yname" minOccurs="0"/>
                <xsd:element ref="ns2:_Flow_Signoff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b93ac7-3440-4a5d-bfba-14b9df8d60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4746b5bc-1c2c-4445-b1e2-8bd04f42ea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yname" ma:index="25" nillable="true" ma:displayName="My name" ma:format="Dropdown" ma:internalName="Myname">
      <xsd:simpleType>
        <xsd:restriction base="dms:Text">
          <xsd:maxLength value="255"/>
        </xsd:restriction>
      </xsd:simpleType>
    </xsd:element>
    <xsd:element name="_Flow_SignoffStatus" ma:index="26" nillable="true" ma:displayName="Status Unterschrift" ma:internalName="Status_x0020_Unterschrift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ef9f1-9118-4ece-8043-580f6c18e25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898e6c-7304-4b58-94ac-ae166c4266f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fe6e0a2-c1af-454e-a870-69ae260a8c0c}" ma:internalName="TaxCatchAll" ma:showField="CatchAllData" ma:web="217ef9f1-9118-4ece-8043-580f6c18e2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BC0896-1C52-49BD-B6A6-7C01BAFD5771}">
  <ds:schemaRefs>
    <ds:schemaRef ds:uri="http://www.w3.org/XML/1998/namespace"/>
    <ds:schemaRef ds:uri="217ef9f1-9118-4ece-8043-580f6c18e255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a1898e6c-7304-4b58-94ac-ae166c4266fd"/>
    <ds:schemaRef ds:uri="a8b93ac7-3440-4a5d-bfba-14b9df8d60ab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38FFA9E-B348-4605-A4D6-9032E455CF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F52C7F-67B7-45D1-BBBA-5BFB9933A7BE}"/>
</file>

<file path=docProps/app.xml><?xml version="1.0" encoding="utf-8"?>
<Properties xmlns="http://schemas.openxmlformats.org/officeDocument/2006/extended-properties" xmlns:vt="http://schemas.openxmlformats.org/officeDocument/2006/docPropsVTypes">
  <Template>Brueggen_Master_2015</Template>
  <TotalTime>0</TotalTime>
  <Words>239</Words>
  <Application>Microsoft Office PowerPoint</Application>
  <PresentationFormat>Benutzerdefiniert</PresentationFormat>
  <Paragraphs>59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Arial</vt:lpstr>
      <vt:lpstr>DINOT</vt:lpstr>
      <vt:lpstr>DINOT-Bold</vt:lpstr>
      <vt:lpstr>Franklin Gothic Book</vt:lpstr>
      <vt:lpstr>Franklin Gothic Demi</vt:lpstr>
      <vt:lpstr>Wingdings 3</vt:lpstr>
      <vt:lpstr>Brüggen</vt:lpstr>
      <vt:lpstr>1_Brüggen</vt:lpstr>
      <vt:lpstr>oat bar with almond and caramel REF.: 000004010970</vt:lpstr>
    </vt:vector>
  </TitlesOfParts>
  <Company>Brueggen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Bsp. Überschrift DIN OT BOLD, 55 PT</dc:title>
  <dc:creator>Britta Scholt</dc:creator>
  <cp:lastModifiedBy>Kimberly Giesenberg</cp:lastModifiedBy>
  <cp:revision>261</cp:revision>
  <cp:lastPrinted>2020-09-28T12:29:24Z</cp:lastPrinted>
  <dcterms:created xsi:type="dcterms:W3CDTF">2018-07-17T12:32:27Z</dcterms:created>
  <dcterms:modified xsi:type="dcterms:W3CDTF">2025-06-24T07:34:46Z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0x010100DA9A7D7B01688C40B96393EDFA5A917A</vt:lpwstr>
  </property>
  <property fmtid="{D5CDD505-2E9C-101B-9397-08002B2CF9AE}" pid="3" name="Order">
    <vt:r8>281000</vt:r8>
  </property>
  <property fmtid="{D5CDD505-2E9C-101B-9397-08002B2CF9AE}" pid="4" name="MediaServiceImageTags">
    <vt:lpwstr/>
  </property>
</Properties>
</file>